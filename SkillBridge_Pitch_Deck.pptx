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3240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Assalam-o-Alaikum everyone, and thank you for having us. We're presenting SkillBridge, a personalized career intelligence platform for university students, built as part of the Alkhidmat Foundation's GEN Z Entrepreneurship Initiative. Our team is Hizb Ullah, Syed Abdullah Shah, and Fareed Ullah. Over the next few minutes we'll walk you through the real problem we found through student research, and the solution we're proposing to address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actual problem? Students today generally know their degree and have some skills, but many struggle to translate that into a clear career direction. From our own survey of 9 students, 44 percent told us they don't clearly know their own skill gaps, and career planning was rated the single most difficult part of their journey — 3.78 out of 5. And only 1 in 9 students actually uses their university's career office for guidance. Most are figuring this out alone.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sure we weren't just guessing, we ran a short anonymous survey with 9 real students — all final-year Computer Science and IT students at private universities. Three findings stood out. First, almost 9 out of 10 knew their target career, but their confidence in that choice was still only moderate. Second, a third of them had never actually compared their own skills to a real job posting. And third, when we asked what feature they wanted most, skill-gap identification and personalized learning suggestions tied for the top spot.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gap. Students already know their degree, some of their skills, and their interests — that part is solved. Where they struggle is turning that into a concrete skill gap picture, a real action plan, and a path to actual opportunities. That gap — between knowing yourself and knowing what to do next — is exactly where SkillBridge steps 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SkillBridge? It's a platform that takes everything about a student — their education, skills, experience, certifications and interests — and turns that into three concrete outputs: career recommendations, job matching, and a skill gap analysis. It's meant to be the bridge between what a student already has and what they still need.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pipeline. It starts with a student profile — their education, skills, experience and interests. That feeds into a machine learning model that recommends top career paths. From there, we match those paths against real job requirements, run a skill gap analysis, prioritize which skills matter most, and finally deliver a personalized career development plan. Every step is designed to move a student from 'I have a profile' to 'I know exactly what to do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here's a hypothetical example — not from our survey. Imagine a Computer Science student strong in Python and AI/ML, moderate in SQL, with one internship. SkillBridge would recommend paths like Machine Learning Engineer or Data Scientist, flag gaps like statistics, deep learning, and Docker, and then hand them a personalized learning roadmap to close those gaps. This is illustrative of the product experience, not a claim about what our current prototype already does.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SkillBridge, in one sentence? For university students and fresh graduates who are uncertain about career direction and skill requirements, SkillBridge connects their profile with real career and job-market requirements — so they can understand suitable careers, identify their skill gaps, and plan their next concrete steps. Four words sum up the experience: personalized, data-driven, career-focused, and action-oriented.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SkillBridge's roadmap grows from career recommendation and skill-gap analysis into a learning roadmap, an AI career assistant, job and internship matching, and long-term progress tracking. But the core idea stays the same: don't just tell students which career to choose — show them exactly what they need to do to reach it. Thank you for your time —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4.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47"/>
        </a:solidFill>
        <a:effectLst/>
      </p:bgPr>
    </p:bg>
    <p:spTree>
      <p:nvGrpSpPr>
        <p:cNvPr id="1" name=""/>
        <p:cNvGrpSpPr/>
        <p:nvPr/>
      </p:nvGrpSpPr>
      <p:grpSpPr>
        <a:xfrm>
          <a:off x="0" y="0"/>
          <a:ext cx="0" cy="0"/>
          <a:chOff x="0" y="0"/>
          <a:chExt cx="0" cy="0"/>
        </a:xfrm>
      </p:grpSpPr>
      <p:sp>
        <p:nvSpPr>
          <p:cNvPr id="2" name="Shape 0"/>
          <p:cNvSpPr/>
          <p:nvPr/>
        </p:nvSpPr>
        <p:spPr>
          <a:xfrm>
            <a:off x="9326880" y="-1645920"/>
            <a:ext cx="4572000" cy="4572000"/>
          </a:xfrm>
          <a:prstGeom prst="ellipse">
            <a:avLst/>
          </a:prstGeom>
          <a:solidFill>
            <a:srgbClr val="13315C"/>
          </a:solidFill>
          <a:ln/>
        </p:spPr>
      </p:sp>
      <p:sp>
        <p:nvSpPr>
          <p:cNvPr id="3" name="Shape 1"/>
          <p:cNvSpPr/>
          <p:nvPr/>
        </p:nvSpPr>
        <p:spPr>
          <a:xfrm>
            <a:off x="-1371600" y="4754880"/>
            <a:ext cx="3657600" cy="3657600"/>
          </a:xfrm>
          <a:prstGeom prst="ellipse">
            <a:avLst/>
          </a:prstGeom>
          <a:solidFill>
            <a:srgbClr val="13315C"/>
          </a:solidFill>
          <a:ln/>
        </p:spPr>
      </p:sp>
      <p:sp>
        <p:nvSpPr>
          <p:cNvPr id="4" name="Shape 2"/>
          <p:cNvSpPr/>
          <p:nvPr/>
        </p:nvSpPr>
        <p:spPr>
          <a:xfrm>
            <a:off x="822960" y="1005840"/>
            <a:ext cx="822960" cy="822960"/>
          </a:xfrm>
          <a:prstGeom prst="ellipse">
            <a:avLst/>
          </a:prstGeom>
          <a:solidFill>
            <a:srgbClr val="19A7CE"/>
          </a:solidFill>
          <a:ln/>
        </p:spPr>
      </p:sp>
      <p:pic>
        <p:nvPicPr>
          <p:cNvPr id="5" name="Image 0" descr="/home/claude/deck/img/ic_compass_w.png"/>
          <p:cNvPicPr>
            <a:picLocks noChangeAspect="1"/>
          </p:cNvPicPr>
          <p:nvPr/>
        </p:nvPicPr>
        <p:blipFill>
          <a:blip r:embed="rId3"/>
          <a:stretch>
            <a:fillRect/>
          </a:stretch>
        </p:blipFill>
        <p:spPr>
          <a:xfrm>
            <a:off x="921715" y="1104595"/>
            <a:ext cx="625450" cy="625450"/>
          </a:xfrm>
          <a:prstGeom prst="rect">
            <a:avLst/>
          </a:prstGeom>
        </p:spPr>
      </p:pic>
      <p:sp>
        <p:nvSpPr>
          <p:cNvPr id="6" name="Text 3"/>
          <p:cNvSpPr/>
          <p:nvPr/>
        </p:nvSpPr>
        <p:spPr>
          <a:xfrm>
            <a:off x="548640" y="2103120"/>
            <a:ext cx="9144000" cy="100584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SkillBridge</a:t>
            </a:r>
            <a:endParaRPr lang="en-US" sz="5400" dirty="0"/>
          </a:p>
        </p:txBody>
      </p:sp>
      <p:sp>
        <p:nvSpPr>
          <p:cNvPr id="7" name="Text 4"/>
          <p:cNvSpPr/>
          <p:nvPr/>
        </p:nvSpPr>
        <p:spPr>
          <a:xfrm>
            <a:off x="594360" y="3063240"/>
            <a:ext cx="9144000" cy="502920"/>
          </a:xfrm>
          <a:prstGeom prst="rect">
            <a:avLst/>
          </a:prstGeom>
          <a:noFill/>
          <a:ln/>
        </p:spPr>
        <p:txBody>
          <a:bodyPr wrap="square" rtlCol="0" anchor="ctr"/>
          <a:lstStyle/>
          <a:p>
            <a:pPr marL="0" indent="0">
              <a:buNone/>
            </a:pPr>
            <a:r>
              <a:rPr lang="en-US" sz="2200" dirty="0">
                <a:solidFill>
                  <a:srgbClr val="E8F1F5"/>
                </a:solidFill>
                <a:latin typeface="Calibri" pitchFamily="34" charset="0"/>
                <a:ea typeface="Calibri" pitchFamily="34" charset="-122"/>
                <a:cs typeface="Calibri" pitchFamily="34" charset="-120"/>
              </a:rPr>
              <a:t>Personalized Career Intelligence for Students</a:t>
            </a:r>
            <a:endParaRPr lang="en-US" sz="2200" dirty="0"/>
          </a:p>
        </p:txBody>
      </p:sp>
      <p:sp>
        <p:nvSpPr>
          <p:cNvPr id="8" name="Text 5"/>
          <p:cNvSpPr/>
          <p:nvPr/>
        </p:nvSpPr>
        <p:spPr>
          <a:xfrm>
            <a:off x="594360" y="3611880"/>
            <a:ext cx="9144000" cy="411480"/>
          </a:xfrm>
          <a:prstGeom prst="rect">
            <a:avLst/>
          </a:prstGeom>
          <a:noFill/>
          <a:ln/>
        </p:spPr>
        <p:txBody>
          <a:bodyPr wrap="square" rtlCol="0" anchor="ctr"/>
          <a:lstStyle/>
          <a:p>
            <a:pPr marL="0" indent="0">
              <a:buNone/>
            </a:pPr>
            <a:r>
              <a:rPr lang="en-US" sz="1500" i="1" dirty="0">
                <a:solidFill>
                  <a:srgbClr val="19A7CE"/>
                </a:solidFill>
                <a:latin typeface="Calibri" pitchFamily="34" charset="0"/>
                <a:ea typeface="Calibri" pitchFamily="34" charset="-122"/>
                <a:cs typeface="Calibri" pitchFamily="34" charset="-120"/>
              </a:rPr>
              <a:t>ML-Based Career Recommendation, Job Matching &amp; Skill Gap Analysis</a:t>
            </a:r>
            <a:endParaRPr lang="en-US" sz="1500" dirty="0"/>
          </a:p>
        </p:txBody>
      </p:sp>
      <p:sp>
        <p:nvSpPr>
          <p:cNvPr id="9" name="Shape 6"/>
          <p:cNvSpPr/>
          <p:nvPr/>
        </p:nvSpPr>
        <p:spPr>
          <a:xfrm>
            <a:off x="594360" y="4297680"/>
            <a:ext cx="4114800" cy="0"/>
          </a:xfrm>
          <a:prstGeom prst="line">
            <a:avLst/>
          </a:prstGeom>
          <a:noFill/>
          <a:ln w="19050">
            <a:solidFill>
              <a:srgbClr val="13315C"/>
            </a:solidFill>
            <a:prstDash val="solid"/>
          </a:ln>
        </p:spPr>
      </p:sp>
      <p:sp>
        <p:nvSpPr>
          <p:cNvPr id="11" name="Text 8"/>
          <p:cNvSpPr/>
          <p:nvPr/>
        </p:nvSpPr>
        <p:spPr>
          <a:xfrm>
            <a:off x="7955280" y="4526280"/>
            <a:ext cx="3566160" cy="274320"/>
          </a:xfrm>
          <a:prstGeom prst="rect">
            <a:avLst/>
          </a:prstGeom>
          <a:noFill/>
          <a:ln/>
        </p:spPr>
        <p:txBody>
          <a:bodyPr wrap="square" rtlCol="0" anchor="ctr"/>
          <a:lstStyle/>
          <a:p>
            <a:pPr marL="0" indent="0">
              <a:buNone/>
            </a:pPr>
            <a:r>
              <a:rPr lang="en-US" sz="1200" b="1" dirty="0">
                <a:solidFill>
                  <a:srgbClr val="19A7CE"/>
                </a:solidFill>
                <a:latin typeface="Calibri" pitchFamily="34" charset="0"/>
                <a:ea typeface="Calibri" pitchFamily="34" charset="-122"/>
                <a:cs typeface="Calibri" pitchFamily="34" charset="-120"/>
              </a:rPr>
              <a:t>Team</a:t>
            </a:r>
            <a:endParaRPr lang="en-US" sz="1200" dirty="0"/>
          </a:p>
        </p:txBody>
      </p:sp>
      <p:sp>
        <p:nvSpPr>
          <p:cNvPr id="12" name="Text 9"/>
          <p:cNvSpPr/>
          <p:nvPr/>
        </p:nvSpPr>
        <p:spPr>
          <a:xfrm>
            <a:off x="7955280" y="4800600"/>
            <a:ext cx="3566160" cy="822960"/>
          </a:xfrm>
          <a:prstGeom prst="rect">
            <a:avLst/>
          </a:prstGeom>
          <a:noFill/>
          <a:ln/>
        </p:spPr>
        <p:txBody>
          <a:bodyPr wrap="square" rtlCol="0" anchor="ctr"/>
          <a:lstStyle/>
          <a:p>
            <a:pPr marL="0" indent="0">
              <a:lnSpc>
                <a:spcPts val="2200"/>
              </a:lnSpc>
              <a:buNone/>
            </a:pPr>
            <a:r>
              <a:rPr lang="en-US" sz="1400" dirty="0">
                <a:solidFill>
                  <a:srgbClr val="FFFFFF"/>
                </a:solidFill>
                <a:latin typeface="Calibri" pitchFamily="34" charset="0"/>
                <a:ea typeface="Calibri" pitchFamily="34" charset="-122"/>
                <a:cs typeface="Calibri" pitchFamily="34" charset="-120"/>
              </a:rPr>
              <a:t>Hizb Ullah</a:t>
            </a:r>
            <a:endParaRPr lang="en-US" sz="1400" dirty="0"/>
          </a:p>
          <a:p>
            <a:pPr marL="0" indent="0">
              <a:lnSpc>
                <a:spcPts val="2200"/>
              </a:lnSpc>
              <a:buNone/>
            </a:pPr>
            <a:r>
              <a:rPr lang="en-US" sz="1400" dirty="0">
                <a:solidFill>
                  <a:srgbClr val="FFFFFF"/>
                </a:solidFill>
                <a:latin typeface="Calibri" pitchFamily="34" charset="0"/>
                <a:ea typeface="Calibri" pitchFamily="34" charset="-122"/>
                <a:cs typeface="Calibri" pitchFamily="34" charset="-120"/>
              </a:rPr>
              <a:t>Syed Abdullah Shah</a:t>
            </a:r>
            <a:endParaRPr lang="en-US" sz="1400" dirty="0"/>
          </a:p>
          <a:p>
            <a:pPr marL="0" indent="0">
              <a:lnSpc>
                <a:spcPts val="2200"/>
              </a:lnSpc>
              <a:buNone/>
            </a:pPr>
            <a:r>
              <a:rPr lang="en-US" sz="1400" dirty="0">
                <a:solidFill>
                  <a:srgbClr val="FFFFFF"/>
                </a:solidFill>
                <a:latin typeface="Calibri" pitchFamily="34" charset="0"/>
                <a:ea typeface="Calibri" pitchFamily="34" charset="-122"/>
                <a:cs typeface="Calibri" pitchFamily="34" charset="-120"/>
              </a:rPr>
              <a:t>Fareed Ullah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1005840"/>
          </a:xfrm>
          <a:prstGeom prst="rect">
            <a:avLst/>
          </a:prstGeom>
          <a:noFill/>
          <a:ln/>
        </p:spPr>
        <p:txBody>
          <a:bodyPr wrap="square" rtlCol="0" anchor="ctr"/>
          <a:lstStyle/>
          <a:p>
            <a:pPr marL="0" indent="0" algn="l">
              <a:buNone/>
            </a:pPr>
            <a:r>
              <a:rPr lang="en-US" sz="2800" b="1" dirty="0">
                <a:solidFill>
                  <a:srgbClr val="0B2447"/>
                </a:solidFill>
                <a:latin typeface="Cambria" pitchFamily="34" charset="0"/>
                <a:ea typeface="Cambria" pitchFamily="34" charset="-122"/>
                <a:cs typeface="Cambria" pitchFamily="34" charset="-120"/>
              </a:rPr>
              <a:t>Students Have Skills — But Do They</a:t>
            </a:r>
            <a:endParaRPr lang="en-US" sz="2800" dirty="0"/>
          </a:p>
          <a:p>
            <a:pPr marL="0" indent="0" algn="l">
              <a:buNone/>
            </a:pPr>
            <a:r>
              <a:rPr lang="en-US" sz="2800" b="1" dirty="0">
                <a:solidFill>
                  <a:srgbClr val="0B2447"/>
                </a:solidFill>
                <a:latin typeface="Cambria" pitchFamily="34" charset="0"/>
                <a:ea typeface="Cambria" pitchFamily="34" charset="-122"/>
                <a:cs typeface="Cambria" pitchFamily="34" charset="-120"/>
              </a:rPr>
              <a:t>Know Where Those Skills Lead?</a:t>
            </a:r>
            <a:endParaRPr lang="en-US" sz="2800" dirty="0"/>
          </a:p>
        </p:txBody>
      </p:sp>
      <p:sp>
        <p:nvSpPr>
          <p:cNvPr id="3" name="Shape 1"/>
          <p:cNvSpPr/>
          <p:nvPr/>
        </p:nvSpPr>
        <p:spPr>
          <a:xfrm>
            <a:off x="640080" y="1691640"/>
            <a:ext cx="502920" cy="502920"/>
          </a:xfrm>
          <a:prstGeom prst="ellipse">
            <a:avLst/>
          </a:prstGeom>
          <a:solidFill>
            <a:srgbClr val="19A7CE"/>
          </a:solidFill>
          <a:ln/>
        </p:spPr>
      </p:sp>
      <p:pic>
        <p:nvPicPr>
          <p:cNvPr id="4" name="Image 0" descr="/home/claude/deck/img/ic_compass_w.png"/>
          <p:cNvPicPr>
            <a:picLocks noChangeAspect="1"/>
          </p:cNvPicPr>
          <p:nvPr/>
        </p:nvPicPr>
        <p:blipFill>
          <a:blip r:embed="rId3"/>
          <a:stretch>
            <a:fillRect/>
          </a:stretch>
        </p:blipFill>
        <p:spPr>
          <a:xfrm>
            <a:off x="700430" y="1751990"/>
            <a:ext cx="382219" cy="382219"/>
          </a:xfrm>
          <a:prstGeom prst="rect">
            <a:avLst/>
          </a:prstGeom>
        </p:spPr>
      </p:pic>
      <p:sp>
        <p:nvSpPr>
          <p:cNvPr id="5" name="Text 2"/>
          <p:cNvSpPr/>
          <p:nvPr/>
        </p:nvSpPr>
        <p:spPr>
          <a:xfrm>
            <a:off x="1371600" y="1664208"/>
            <a:ext cx="5760720" cy="54864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Struggle to choose the right career path</a:t>
            </a:r>
            <a:endParaRPr lang="en-US" sz="1500" dirty="0"/>
          </a:p>
        </p:txBody>
      </p:sp>
      <p:sp>
        <p:nvSpPr>
          <p:cNvPr id="6" name="Shape 3"/>
          <p:cNvSpPr/>
          <p:nvPr/>
        </p:nvSpPr>
        <p:spPr>
          <a:xfrm>
            <a:off x="640080" y="2468880"/>
            <a:ext cx="502920" cy="502920"/>
          </a:xfrm>
          <a:prstGeom prst="ellipse">
            <a:avLst/>
          </a:prstGeom>
          <a:solidFill>
            <a:srgbClr val="19A7CE"/>
          </a:solidFill>
          <a:ln/>
        </p:spPr>
      </p:sp>
      <p:pic>
        <p:nvPicPr>
          <p:cNvPr id="7" name="Image 1" descr="/home/claude/deck/img/ic_magchart_w.png"/>
          <p:cNvPicPr>
            <a:picLocks noChangeAspect="1"/>
          </p:cNvPicPr>
          <p:nvPr/>
        </p:nvPicPr>
        <p:blipFill>
          <a:blip r:embed="rId4"/>
          <a:stretch>
            <a:fillRect/>
          </a:stretch>
        </p:blipFill>
        <p:spPr>
          <a:xfrm>
            <a:off x="700430" y="2529230"/>
            <a:ext cx="382219" cy="382219"/>
          </a:xfrm>
          <a:prstGeom prst="rect">
            <a:avLst/>
          </a:prstGeom>
        </p:spPr>
      </p:pic>
      <p:sp>
        <p:nvSpPr>
          <p:cNvPr id="8" name="Text 4"/>
          <p:cNvSpPr/>
          <p:nvPr/>
        </p:nvSpPr>
        <p:spPr>
          <a:xfrm>
            <a:off x="1371600" y="2441448"/>
            <a:ext cx="5760720" cy="54864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Don't clearly understand skills required for their target career</a:t>
            </a:r>
            <a:endParaRPr lang="en-US" sz="1500" dirty="0"/>
          </a:p>
        </p:txBody>
      </p:sp>
      <p:sp>
        <p:nvSpPr>
          <p:cNvPr id="9" name="Shape 5"/>
          <p:cNvSpPr/>
          <p:nvPr/>
        </p:nvSpPr>
        <p:spPr>
          <a:xfrm>
            <a:off x="640080" y="3246120"/>
            <a:ext cx="502920" cy="502920"/>
          </a:xfrm>
          <a:prstGeom prst="ellipse">
            <a:avLst/>
          </a:prstGeom>
          <a:solidFill>
            <a:srgbClr val="19A7CE"/>
          </a:solidFill>
          <a:ln/>
        </p:spPr>
      </p:sp>
      <p:pic>
        <p:nvPicPr>
          <p:cNvPr id="10" name="Image 2" descr="/home/claude/deck/img/ic_listcheck_w.png"/>
          <p:cNvPicPr>
            <a:picLocks noChangeAspect="1"/>
          </p:cNvPicPr>
          <p:nvPr/>
        </p:nvPicPr>
        <p:blipFill>
          <a:blip r:embed="rId5"/>
          <a:stretch>
            <a:fillRect/>
          </a:stretch>
        </p:blipFill>
        <p:spPr>
          <a:xfrm>
            <a:off x="700430" y="3306470"/>
            <a:ext cx="382219" cy="382219"/>
          </a:xfrm>
          <a:prstGeom prst="rect">
            <a:avLst/>
          </a:prstGeom>
        </p:spPr>
      </p:pic>
      <p:sp>
        <p:nvSpPr>
          <p:cNvPr id="11" name="Text 6"/>
          <p:cNvSpPr/>
          <p:nvPr/>
        </p:nvSpPr>
        <p:spPr>
          <a:xfrm>
            <a:off x="1371600" y="3218688"/>
            <a:ext cx="5760720" cy="54864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Often unsure which specific skills they're missing</a:t>
            </a:r>
            <a:endParaRPr lang="en-US" sz="1500" dirty="0"/>
          </a:p>
        </p:txBody>
      </p:sp>
      <p:sp>
        <p:nvSpPr>
          <p:cNvPr id="12" name="Shape 7"/>
          <p:cNvSpPr/>
          <p:nvPr/>
        </p:nvSpPr>
        <p:spPr>
          <a:xfrm>
            <a:off x="640080" y="4023360"/>
            <a:ext cx="502920" cy="502920"/>
          </a:xfrm>
          <a:prstGeom prst="ellipse">
            <a:avLst/>
          </a:prstGeom>
          <a:solidFill>
            <a:srgbClr val="19A7CE"/>
          </a:solidFill>
          <a:ln/>
        </p:spPr>
      </p:sp>
      <p:pic>
        <p:nvPicPr>
          <p:cNvPr id="13" name="Image 3" descr="/home/claude/deck/img/ic_layers_w.png"/>
          <p:cNvPicPr>
            <a:picLocks noChangeAspect="1"/>
          </p:cNvPicPr>
          <p:nvPr/>
        </p:nvPicPr>
        <p:blipFill>
          <a:blip r:embed="rId6"/>
          <a:stretch>
            <a:fillRect/>
          </a:stretch>
        </p:blipFill>
        <p:spPr>
          <a:xfrm>
            <a:off x="700430" y="4083710"/>
            <a:ext cx="382219" cy="382219"/>
          </a:xfrm>
          <a:prstGeom prst="rect">
            <a:avLst/>
          </a:prstGeom>
        </p:spPr>
      </p:pic>
      <p:sp>
        <p:nvSpPr>
          <p:cNvPr id="14" name="Text 8"/>
          <p:cNvSpPr/>
          <p:nvPr/>
        </p:nvSpPr>
        <p:spPr>
          <a:xfrm>
            <a:off x="1371600" y="3995928"/>
            <a:ext cx="5760720" cy="54864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Career guidance is scattered across informal sources</a:t>
            </a:r>
            <a:endParaRPr lang="en-US" sz="1500" dirty="0"/>
          </a:p>
        </p:txBody>
      </p:sp>
      <p:sp>
        <p:nvSpPr>
          <p:cNvPr id="15" name="Shape 9"/>
          <p:cNvSpPr/>
          <p:nvPr/>
        </p:nvSpPr>
        <p:spPr>
          <a:xfrm>
            <a:off x="7635240" y="1600200"/>
            <a:ext cx="3977640" cy="4206240"/>
          </a:xfrm>
          <a:prstGeom prst="roundRect">
            <a:avLst>
              <a:gd name="adj" fmla="val 2759"/>
            </a:avLst>
          </a:prstGeom>
          <a:solidFill>
            <a:srgbClr val="E8F1F5"/>
          </a:solidFill>
          <a:ln/>
        </p:spPr>
      </p:sp>
      <p:sp>
        <p:nvSpPr>
          <p:cNvPr id="16" name="Text 10"/>
          <p:cNvSpPr/>
          <p:nvPr/>
        </p:nvSpPr>
        <p:spPr>
          <a:xfrm>
            <a:off x="7909560" y="1783080"/>
            <a:ext cx="3474720" cy="365760"/>
          </a:xfrm>
          <a:prstGeom prst="rect">
            <a:avLst/>
          </a:prstGeom>
          <a:noFill/>
          <a:ln/>
        </p:spPr>
        <p:txBody>
          <a:bodyPr wrap="square" rtlCol="0" anchor="ctr"/>
          <a:lstStyle/>
          <a:p>
            <a:pPr marL="0" indent="0">
              <a:buNone/>
            </a:pPr>
            <a:r>
              <a:rPr lang="en-US" sz="1200" b="1" dirty="0">
                <a:solidFill>
                  <a:srgbClr val="5C7285"/>
                </a:solidFill>
                <a:latin typeface="Calibri" pitchFamily="34" charset="0"/>
                <a:ea typeface="Calibri" pitchFamily="34" charset="-122"/>
                <a:cs typeface="Calibri" pitchFamily="34" charset="-120"/>
              </a:rPr>
              <a:t>From Our Student Survey (n = 9)</a:t>
            </a:r>
            <a:endParaRPr lang="en-US" sz="1200" dirty="0"/>
          </a:p>
        </p:txBody>
      </p:sp>
      <p:sp>
        <p:nvSpPr>
          <p:cNvPr id="17" name="Text 11"/>
          <p:cNvSpPr/>
          <p:nvPr/>
        </p:nvSpPr>
        <p:spPr>
          <a:xfrm>
            <a:off x="7909560" y="2148840"/>
            <a:ext cx="3429000" cy="685800"/>
          </a:xfrm>
          <a:prstGeom prst="rect">
            <a:avLst/>
          </a:prstGeom>
          <a:noFill/>
          <a:ln/>
        </p:spPr>
        <p:txBody>
          <a:bodyPr wrap="square" rtlCol="0" anchor="ctr"/>
          <a:lstStyle/>
          <a:p>
            <a:pPr marL="0" indent="0">
              <a:buNone/>
            </a:pPr>
            <a:r>
              <a:rPr lang="en-US" sz="4600" b="1" dirty="0">
                <a:solidFill>
                  <a:srgbClr val="F97B22"/>
                </a:solidFill>
                <a:latin typeface="Cambria" pitchFamily="34" charset="0"/>
                <a:ea typeface="Cambria" pitchFamily="34" charset="-122"/>
                <a:cs typeface="Cambria" pitchFamily="34" charset="-120"/>
              </a:rPr>
              <a:t>44%</a:t>
            </a:r>
            <a:endParaRPr lang="en-US" sz="4600" dirty="0"/>
          </a:p>
        </p:txBody>
      </p:sp>
      <p:sp>
        <p:nvSpPr>
          <p:cNvPr id="18" name="Text 12"/>
          <p:cNvSpPr/>
          <p:nvPr/>
        </p:nvSpPr>
        <p:spPr>
          <a:xfrm>
            <a:off x="7909560" y="2788920"/>
            <a:ext cx="3429000" cy="502920"/>
          </a:xfrm>
          <a:prstGeom prst="rect">
            <a:avLst/>
          </a:prstGeom>
          <a:noFill/>
          <a:ln/>
        </p:spPr>
        <p:txBody>
          <a:bodyPr wrap="square" rtlCol="0" anchor="ctr"/>
          <a:lstStyle/>
          <a:p>
            <a:pPr marL="0" indent="0">
              <a:buNone/>
            </a:pPr>
            <a:r>
              <a:rPr lang="en-US" sz="1300" dirty="0">
                <a:solidFill>
                  <a:srgbClr val="0B2447"/>
                </a:solidFill>
                <a:latin typeface="Calibri" pitchFamily="34" charset="0"/>
                <a:ea typeface="Calibri" pitchFamily="34" charset="-122"/>
                <a:cs typeface="Calibri" pitchFamily="34" charset="-120"/>
              </a:rPr>
              <a:t>don't clearly know their own skill gaps</a:t>
            </a:r>
            <a:endParaRPr lang="en-US" sz="1300" dirty="0"/>
          </a:p>
        </p:txBody>
      </p:sp>
      <p:sp>
        <p:nvSpPr>
          <p:cNvPr id="19" name="Text 13"/>
          <p:cNvSpPr/>
          <p:nvPr/>
        </p:nvSpPr>
        <p:spPr>
          <a:xfrm>
            <a:off x="7909560" y="3429000"/>
            <a:ext cx="3429000" cy="685800"/>
          </a:xfrm>
          <a:prstGeom prst="rect">
            <a:avLst/>
          </a:prstGeom>
          <a:noFill/>
          <a:ln/>
        </p:spPr>
        <p:txBody>
          <a:bodyPr wrap="square" rtlCol="0" anchor="ctr"/>
          <a:lstStyle/>
          <a:p>
            <a:pPr marL="0" indent="0">
              <a:buNone/>
            </a:pPr>
            <a:r>
              <a:rPr lang="en-US" sz="4000" b="1" dirty="0">
                <a:solidFill>
                  <a:srgbClr val="19A7CE"/>
                </a:solidFill>
                <a:latin typeface="Cambria" pitchFamily="34" charset="0"/>
                <a:ea typeface="Cambria" pitchFamily="34" charset="-122"/>
                <a:cs typeface="Cambria" pitchFamily="34" charset="-120"/>
              </a:rPr>
              <a:t>3.78/5</a:t>
            </a:r>
            <a:endParaRPr lang="en-US" sz="4000" dirty="0"/>
          </a:p>
        </p:txBody>
      </p:sp>
      <p:sp>
        <p:nvSpPr>
          <p:cNvPr id="20" name="Text 14"/>
          <p:cNvSpPr/>
          <p:nvPr/>
        </p:nvSpPr>
        <p:spPr>
          <a:xfrm>
            <a:off x="7909560" y="4023360"/>
            <a:ext cx="3429000" cy="685800"/>
          </a:xfrm>
          <a:prstGeom prst="rect">
            <a:avLst/>
          </a:prstGeom>
          <a:noFill/>
          <a:ln/>
        </p:spPr>
        <p:txBody>
          <a:bodyPr wrap="square" rtlCol="0" anchor="ctr"/>
          <a:lstStyle/>
          <a:p>
            <a:pPr marL="0" indent="0">
              <a:buNone/>
            </a:pPr>
            <a:r>
              <a:rPr lang="en-US" sz="1300" dirty="0">
                <a:solidFill>
                  <a:srgbClr val="0B2447"/>
                </a:solidFill>
                <a:latin typeface="Calibri" pitchFamily="34" charset="0"/>
                <a:ea typeface="Calibri" pitchFamily="34" charset="-122"/>
                <a:cs typeface="Calibri" pitchFamily="34" charset="-120"/>
              </a:rPr>
              <a:t>average difficulty rating for career planning — the hardest-rated item in the survey</a:t>
            </a:r>
            <a:endParaRPr lang="en-US" sz="1300" dirty="0"/>
          </a:p>
        </p:txBody>
      </p:sp>
      <p:sp>
        <p:nvSpPr>
          <p:cNvPr id="21" name="Text 15"/>
          <p:cNvSpPr/>
          <p:nvPr/>
        </p:nvSpPr>
        <p:spPr>
          <a:xfrm>
            <a:off x="7909560" y="4800600"/>
            <a:ext cx="3429000" cy="685800"/>
          </a:xfrm>
          <a:prstGeom prst="rect">
            <a:avLst/>
          </a:prstGeom>
          <a:noFill/>
          <a:ln/>
        </p:spPr>
        <p:txBody>
          <a:bodyPr wrap="square" rtlCol="0" anchor="ctr"/>
          <a:lstStyle/>
          <a:p>
            <a:pPr marL="0" indent="0">
              <a:buNone/>
            </a:pPr>
            <a:r>
              <a:rPr lang="en-US" sz="4600" b="1" dirty="0">
                <a:solidFill>
                  <a:srgbClr val="F97B22"/>
                </a:solidFill>
                <a:latin typeface="Cambria" pitchFamily="34" charset="0"/>
                <a:ea typeface="Cambria" pitchFamily="34" charset="-122"/>
                <a:cs typeface="Cambria" pitchFamily="34" charset="-120"/>
              </a:rPr>
              <a:t>11%</a:t>
            </a:r>
            <a:endParaRPr lang="en-US" sz="4600" dirty="0"/>
          </a:p>
        </p:txBody>
      </p:sp>
      <p:sp>
        <p:nvSpPr>
          <p:cNvPr id="22" name="Text 16"/>
          <p:cNvSpPr/>
          <p:nvPr/>
        </p:nvSpPr>
        <p:spPr>
          <a:xfrm>
            <a:off x="7909560" y="5440680"/>
            <a:ext cx="3429000" cy="365760"/>
          </a:xfrm>
          <a:prstGeom prst="rect">
            <a:avLst/>
          </a:prstGeom>
          <a:noFill/>
          <a:ln/>
        </p:spPr>
        <p:txBody>
          <a:bodyPr wrap="square" rtlCol="0" anchor="ctr"/>
          <a:lstStyle/>
          <a:p>
            <a:pPr marL="0" indent="0">
              <a:buNone/>
            </a:pPr>
            <a:r>
              <a:rPr lang="en-US" sz="1300" dirty="0">
                <a:solidFill>
                  <a:srgbClr val="0B2447"/>
                </a:solidFill>
                <a:latin typeface="Calibri" pitchFamily="34" charset="0"/>
                <a:ea typeface="Calibri" pitchFamily="34" charset="-122"/>
                <a:cs typeface="Calibri" pitchFamily="34" charset="-120"/>
              </a:rPr>
              <a:t>use their university career office for guidance</a:t>
            </a:r>
            <a:endParaRPr lang="en-US" sz="1300" dirty="0"/>
          </a:p>
        </p:txBody>
      </p:sp>
      <p:sp>
        <p:nvSpPr>
          <p:cNvPr id="24"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000" b="1" dirty="0">
                <a:solidFill>
                  <a:srgbClr val="0B2447"/>
                </a:solidFill>
                <a:latin typeface="Cambria" pitchFamily="34" charset="0"/>
                <a:ea typeface="Cambria" pitchFamily="34" charset="-122"/>
                <a:cs typeface="Cambria" pitchFamily="34" charset="-120"/>
              </a:rPr>
              <a:t>We Asked Students</a:t>
            </a:r>
            <a:endParaRPr lang="en-US" sz="3000" dirty="0"/>
          </a:p>
        </p:txBody>
      </p:sp>
      <p:sp>
        <p:nvSpPr>
          <p:cNvPr id="3" name="Shape 1"/>
          <p:cNvSpPr/>
          <p:nvPr/>
        </p:nvSpPr>
        <p:spPr>
          <a:xfrm>
            <a:off x="548640" y="1554480"/>
            <a:ext cx="3749040" cy="4297680"/>
          </a:xfrm>
          <a:prstGeom prst="roundRect">
            <a:avLst>
              <a:gd name="adj" fmla="val 2927"/>
            </a:avLst>
          </a:prstGeom>
          <a:solidFill>
            <a:srgbClr val="0B2447"/>
          </a:solidFill>
          <a:ln/>
        </p:spPr>
      </p:sp>
      <p:sp>
        <p:nvSpPr>
          <p:cNvPr id="4" name="Shape 2"/>
          <p:cNvSpPr/>
          <p:nvPr/>
        </p:nvSpPr>
        <p:spPr>
          <a:xfrm>
            <a:off x="868680" y="1828800"/>
            <a:ext cx="640080" cy="640080"/>
          </a:xfrm>
          <a:prstGeom prst="ellipse">
            <a:avLst/>
          </a:prstGeom>
          <a:solidFill>
            <a:srgbClr val="13315C"/>
          </a:solidFill>
          <a:ln/>
        </p:spPr>
      </p:sp>
      <p:pic>
        <p:nvPicPr>
          <p:cNvPr id="5" name="Image 0" descr="/home/claude/deck/img/ic_clipboard_teal.png"/>
          <p:cNvPicPr>
            <a:picLocks noChangeAspect="1"/>
          </p:cNvPicPr>
          <p:nvPr/>
        </p:nvPicPr>
        <p:blipFill>
          <a:blip r:embed="rId3"/>
          <a:stretch>
            <a:fillRect/>
          </a:stretch>
        </p:blipFill>
        <p:spPr>
          <a:xfrm>
            <a:off x="945490" y="1905610"/>
            <a:ext cx="486461" cy="486461"/>
          </a:xfrm>
          <a:prstGeom prst="rect">
            <a:avLst/>
          </a:prstGeom>
        </p:spPr>
      </p:pic>
      <p:sp>
        <p:nvSpPr>
          <p:cNvPr id="6" name="Text 3"/>
          <p:cNvSpPr/>
          <p:nvPr/>
        </p:nvSpPr>
        <p:spPr>
          <a:xfrm>
            <a:off x="548640" y="2606040"/>
            <a:ext cx="3749040" cy="82296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9</a:t>
            </a:r>
            <a:endParaRPr lang="en-US" sz="5200" dirty="0"/>
          </a:p>
        </p:txBody>
      </p:sp>
      <p:sp>
        <p:nvSpPr>
          <p:cNvPr id="7" name="Text 4"/>
          <p:cNvSpPr/>
          <p:nvPr/>
        </p:nvSpPr>
        <p:spPr>
          <a:xfrm>
            <a:off x="548640" y="3337560"/>
            <a:ext cx="3749040" cy="365760"/>
          </a:xfrm>
          <a:prstGeom prst="rect">
            <a:avLst/>
          </a:prstGeom>
          <a:noFill/>
          <a:ln/>
        </p:spPr>
        <p:txBody>
          <a:bodyPr wrap="square" rtlCol="0" anchor="ctr"/>
          <a:lstStyle/>
          <a:p>
            <a:pPr marL="0" indent="0" algn="ctr">
              <a:buNone/>
            </a:pPr>
            <a:r>
              <a:rPr lang="en-US" sz="1400" dirty="0">
                <a:solidFill>
                  <a:srgbClr val="19A7CE"/>
                </a:solidFill>
                <a:latin typeface="Calibri" pitchFamily="34" charset="0"/>
                <a:ea typeface="Calibri" pitchFamily="34" charset="-122"/>
                <a:cs typeface="Calibri" pitchFamily="34" charset="-120"/>
              </a:rPr>
              <a:t>Real Student Respondents</a:t>
            </a:r>
            <a:endParaRPr lang="en-US" sz="1400" dirty="0"/>
          </a:p>
        </p:txBody>
      </p:sp>
      <p:sp>
        <p:nvSpPr>
          <p:cNvPr id="8" name="Shape 5"/>
          <p:cNvSpPr/>
          <p:nvPr/>
        </p:nvSpPr>
        <p:spPr>
          <a:xfrm>
            <a:off x="868680" y="3886200"/>
            <a:ext cx="3108960" cy="0"/>
          </a:xfrm>
          <a:prstGeom prst="line">
            <a:avLst/>
          </a:prstGeom>
          <a:noFill/>
          <a:ln w="12700">
            <a:solidFill>
              <a:srgbClr val="13315C"/>
            </a:solidFill>
            <a:prstDash val="solid"/>
          </a:ln>
        </p:spPr>
      </p:sp>
      <p:sp>
        <p:nvSpPr>
          <p:cNvPr id="9" name="Text 6"/>
          <p:cNvSpPr/>
          <p:nvPr/>
        </p:nvSpPr>
        <p:spPr>
          <a:xfrm>
            <a:off x="868680" y="4069080"/>
            <a:ext cx="3108960" cy="1554480"/>
          </a:xfrm>
          <a:prstGeom prst="rect">
            <a:avLst/>
          </a:prstGeom>
          <a:noFill/>
          <a:ln/>
        </p:spPr>
        <p:txBody>
          <a:bodyPr wrap="square" rtlCol="0" anchor="ctr"/>
          <a:lstStyle/>
          <a:p>
            <a:pPr marL="0" indent="0">
              <a:lnSpc>
                <a:spcPts val="2400"/>
              </a:lnSpc>
              <a:buNone/>
            </a:pPr>
            <a:r>
              <a:rPr lang="en-US" sz="1300" b="1" dirty="0">
                <a:solidFill>
                  <a:srgbClr val="19A7CE"/>
                </a:solidFill>
                <a:latin typeface="Calibri" pitchFamily="34" charset="0"/>
                <a:ea typeface="Calibri" pitchFamily="34" charset="-122"/>
                <a:cs typeface="Calibri" pitchFamily="34" charset="-120"/>
              </a:rPr>
              <a:t>Profile:  </a:t>
            </a:r>
            <a:r>
              <a:rPr lang="en-US" sz="1300" dirty="0">
                <a:solidFill>
                  <a:srgbClr val="FFFFFF"/>
                </a:solidFill>
                <a:latin typeface="Calibri" pitchFamily="34" charset="0"/>
                <a:ea typeface="Calibri" pitchFamily="34" charset="-122"/>
                <a:cs typeface="Calibri" pitchFamily="34" charset="-120"/>
              </a:rPr>
              <a:t>Final-year, Private Univ.
</a:t>
            </a:r>
            <a:r>
              <a:rPr lang="en-US" sz="1300" b="1" dirty="0">
                <a:solidFill>
                  <a:srgbClr val="19A7CE"/>
                </a:solidFill>
                <a:latin typeface="Calibri" pitchFamily="34" charset="0"/>
                <a:ea typeface="Calibri" pitchFamily="34" charset="-122"/>
                <a:cs typeface="Calibri" pitchFamily="34" charset="-120"/>
              </a:rPr>
              <a:t>Field:  </a:t>
            </a:r>
            <a:r>
              <a:rPr lang="en-US" sz="1300" dirty="0">
                <a:solidFill>
                  <a:srgbClr val="FFFFFF"/>
                </a:solidFill>
                <a:latin typeface="Calibri" pitchFamily="34" charset="0"/>
                <a:ea typeface="Calibri" pitchFamily="34" charset="-122"/>
                <a:cs typeface="Calibri" pitchFamily="34" charset="-120"/>
              </a:rPr>
              <a:t>Computer Science / IT
</a:t>
            </a:r>
            <a:r>
              <a:rPr lang="en-US" sz="1300" b="1" dirty="0">
                <a:solidFill>
                  <a:srgbClr val="19A7CE"/>
                </a:solidFill>
                <a:latin typeface="Calibri" pitchFamily="34" charset="0"/>
                <a:ea typeface="Calibri" pitchFamily="34" charset="-122"/>
                <a:cs typeface="Calibri" pitchFamily="34" charset="-120"/>
              </a:rPr>
              <a:t>Method:  </a:t>
            </a:r>
            <a:r>
              <a:rPr lang="en-US" sz="1300" dirty="0">
                <a:solidFill>
                  <a:srgbClr val="FFFFFF"/>
                </a:solidFill>
                <a:latin typeface="Calibri" pitchFamily="34" charset="0"/>
                <a:ea typeface="Calibri" pitchFamily="34" charset="-122"/>
                <a:cs typeface="Calibri" pitchFamily="34" charset="-120"/>
              </a:rPr>
              <a:t>Anonymous Google Form survey</a:t>
            </a:r>
            <a:endParaRPr lang="en-US" sz="1300" dirty="0"/>
          </a:p>
        </p:txBody>
      </p:sp>
      <p:sp>
        <p:nvSpPr>
          <p:cNvPr id="10" name="Shape 7"/>
          <p:cNvSpPr/>
          <p:nvPr/>
        </p:nvSpPr>
        <p:spPr>
          <a:xfrm>
            <a:off x="4617720" y="1645920"/>
            <a:ext cx="7040880" cy="1325880"/>
          </a:xfrm>
          <a:prstGeom prst="roundRect">
            <a:avLst>
              <a:gd name="adj" fmla="val 6897"/>
            </a:avLst>
          </a:prstGeom>
          <a:solidFill>
            <a:srgbClr val="E8F1F5"/>
          </a:solidFill>
          <a:ln/>
        </p:spPr>
      </p:sp>
      <p:sp>
        <p:nvSpPr>
          <p:cNvPr id="11" name="Text 8"/>
          <p:cNvSpPr/>
          <p:nvPr/>
        </p:nvSpPr>
        <p:spPr>
          <a:xfrm>
            <a:off x="4846320" y="1764792"/>
            <a:ext cx="2743200" cy="320040"/>
          </a:xfrm>
          <a:prstGeom prst="rect">
            <a:avLst/>
          </a:prstGeom>
          <a:noFill/>
          <a:ln/>
        </p:spPr>
        <p:txBody>
          <a:bodyPr wrap="square" rtlCol="0" anchor="ctr"/>
          <a:lstStyle/>
          <a:p>
            <a:pPr marL="0" indent="0">
              <a:buNone/>
            </a:pPr>
            <a:r>
              <a:rPr lang="en-US" sz="1300" b="1" dirty="0">
                <a:solidFill>
                  <a:srgbClr val="19A7CE"/>
                </a:solidFill>
                <a:latin typeface="Calibri" pitchFamily="34" charset="0"/>
                <a:ea typeface="Calibri" pitchFamily="34" charset="-122"/>
                <a:cs typeface="Calibri" pitchFamily="34" charset="-120"/>
              </a:rPr>
              <a:t>Finding 1</a:t>
            </a:r>
            <a:endParaRPr lang="en-US" sz="1300" dirty="0"/>
          </a:p>
        </p:txBody>
      </p:sp>
      <p:sp>
        <p:nvSpPr>
          <p:cNvPr id="12" name="Text 9"/>
          <p:cNvSpPr/>
          <p:nvPr/>
        </p:nvSpPr>
        <p:spPr>
          <a:xfrm>
            <a:off x="4846320" y="2084832"/>
            <a:ext cx="6583680" cy="822960"/>
          </a:xfrm>
          <a:prstGeom prst="rect">
            <a:avLst/>
          </a:prstGeom>
          <a:noFill/>
          <a:ln/>
        </p:spPr>
        <p:txBody>
          <a:bodyPr wrap="square" rtlCol="0" anchor="t"/>
          <a:lstStyle/>
          <a:p>
            <a:pPr marL="0" indent="0">
              <a:buNone/>
            </a:pPr>
            <a:r>
              <a:rPr lang="en-US" sz="1400" dirty="0">
                <a:solidFill>
                  <a:srgbClr val="0B2447"/>
                </a:solidFill>
                <a:latin typeface="Calibri" pitchFamily="34" charset="0"/>
                <a:ea typeface="Calibri" pitchFamily="34" charset="-122"/>
                <a:cs typeface="Calibri" pitchFamily="34" charset="-120"/>
              </a:rPr>
              <a:t>88.9% of respondents said they are certain about their target career — but average confidence was only 3.56/5.</a:t>
            </a:r>
            <a:endParaRPr lang="en-US" sz="1400" dirty="0"/>
          </a:p>
        </p:txBody>
      </p:sp>
      <p:sp>
        <p:nvSpPr>
          <p:cNvPr id="13" name="Shape 10"/>
          <p:cNvSpPr/>
          <p:nvPr/>
        </p:nvSpPr>
        <p:spPr>
          <a:xfrm>
            <a:off x="4617720" y="3182112"/>
            <a:ext cx="7040880" cy="1325880"/>
          </a:xfrm>
          <a:prstGeom prst="roundRect">
            <a:avLst>
              <a:gd name="adj" fmla="val 6897"/>
            </a:avLst>
          </a:prstGeom>
          <a:solidFill>
            <a:srgbClr val="E8F1F5"/>
          </a:solidFill>
          <a:ln/>
        </p:spPr>
      </p:sp>
      <p:sp>
        <p:nvSpPr>
          <p:cNvPr id="14" name="Text 11"/>
          <p:cNvSpPr/>
          <p:nvPr/>
        </p:nvSpPr>
        <p:spPr>
          <a:xfrm>
            <a:off x="4846320" y="3300984"/>
            <a:ext cx="2743200" cy="320040"/>
          </a:xfrm>
          <a:prstGeom prst="rect">
            <a:avLst/>
          </a:prstGeom>
          <a:noFill/>
          <a:ln/>
        </p:spPr>
        <p:txBody>
          <a:bodyPr wrap="square" rtlCol="0" anchor="ctr"/>
          <a:lstStyle/>
          <a:p>
            <a:pPr marL="0" indent="0">
              <a:buNone/>
            </a:pPr>
            <a:r>
              <a:rPr lang="en-US" sz="1300" b="1" dirty="0">
                <a:solidFill>
                  <a:srgbClr val="19A7CE"/>
                </a:solidFill>
                <a:latin typeface="Calibri" pitchFamily="34" charset="0"/>
                <a:ea typeface="Calibri" pitchFamily="34" charset="-122"/>
                <a:cs typeface="Calibri" pitchFamily="34" charset="-120"/>
              </a:rPr>
              <a:t>Finding 2</a:t>
            </a:r>
            <a:endParaRPr lang="en-US" sz="1300" dirty="0"/>
          </a:p>
        </p:txBody>
      </p:sp>
      <p:sp>
        <p:nvSpPr>
          <p:cNvPr id="15" name="Text 12"/>
          <p:cNvSpPr/>
          <p:nvPr/>
        </p:nvSpPr>
        <p:spPr>
          <a:xfrm>
            <a:off x="4846320" y="3621024"/>
            <a:ext cx="6583680" cy="822960"/>
          </a:xfrm>
          <a:prstGeom prst="rect">
            <a:avLst/>
          </a:prstGeom>
          <a:noFill/>
          <a:ln/>
        </p:spPr>
        <p:txBody>
          <a:bodyPr wrap="square" rtlCol="0" anchor="t"/>
          <a:lstStyle/>
          <a:p>
            <a:pPr marL="0" indent="0">
              <a:buNone/>
            </a:pPr>
            <a:r>
              <a:rPr lang="en-US" sz="1400" dirty="0">
                <a:solidFill>
                  <a:srgbClr val="0B2447"/>
                </a:solidFill>
                <a:latin typeface="Calibri" pitchFamily="34" charset="0"/>
                <a:ea typeface="Calibri" pitchFamily="34" charset="-122"/>
                <a:cs typeface="Calibri" pitchFamily="34" charset="-120"/>
              </a:rPr>
              <a:t>33.3% have never compared their own skills against a real job posting's requirements.</a:t>
            </a:r>
            <a:endParaRPr lang="en-US" sz="1400" dirty="0"/>
          </a:p>
        </p:txBody>
      </p:sp>
      <p:sp>
        <p:nvSpPr>
          <p:cNvPr id="16" name="Shape 13"/>
          <p:cNvSpPr/>
          <p:nvPr/>
        </p:nvSpPr>
        <p:spPr>
          <a:xfrm>
            <a:off x="4617720" y="4718304"/>
            <a:ext cx="7040880" cy="1325880"/>
          </a:xfrm>
          <a:prstGeom prst="roundRect">
            <a:avLst>
              <a:gd name="adj" fmla="val 6897"/>
            </a:avLst>
          </a:prstGeom>
          <a:solidFill>
            <a:srgbClr val="E8F1F5"/>
          </a:solidFill>
          <a:ln/>
        </p:spPr>
      </p:sp>
      <p:sp>
        <p:nvSpPr>
          <p:cNvPr id="17" name="Text 14"/>
          <p:cNvSpPr/>
          <p:nvPr/>
        </p:nvSpPr>
        <p:spPr>
          <a:xfrm>
            <a:off x="4846320" y="4837176"/>
            <a:ext cx="2743200" cy="320040"/>
          </a:xfrm>
          <a:prstGeom prst="rect">
            <a:avLst/>
          </a:prstGeom>
          <a:noFill/>
          <a:ln/>
        </p:spPr>
        <p:txBody>
          <a:bodyPr wrap="square" rtlCol="0" anchor="ctr"/>
          <a:lstStyle/>
          <a:p>
            <a:pPr marL="0" indent="0">
              <a:buNone/>
            </a:pPr>
            <a:r>
              <a:rPr lang="en-US" sz="1300" b="1" dirty="0">
                <a:solidFill>
                  <a:srgbClr val="19A7CE"/>
                </a:solidFill>
                <a:latin typeface="Calibri" pitchFamily="34" charset="0"/>
                <a:ea typeface="Calibri" pitchFamily="34" charset="-122"/>
                <a:cs typeface="Calibri" pitchFamily="34" charset="-120"/>
              </a:rPr>
              <a:t>Finding 3</a:t>
            </a:r>
            <a:endParaRPr lang="en-US" sz="1300" dirty="0"/>
          </a:p>
        </p:txBody>
      </p:sp>
      <p:sp>
        <p:nvSpPr>
          <p:cNvPr id="18" name="Text 15"/>
          <p:cNvSpPr/>
          <p:nvPr/>
        </p:nvSpPr>
        <p:spPr>
          <a:xfrm>
            <a:off x="4846320" y="5157216"/>
            <a:ext cx="6583680" cy="822960"/>
          </a:xfrm>
          <a:prstGeom prst="rect">
            <a:avLst/>
          </a:prstGeom>
          <a:noFill/>
          <a:ln/>
        </p:spPr>
        <p:txBody>
          <a:bodyPr wrap="square" rtlCol="0" anchor="t"/>
          <a:lstStyle/>
          <a:p>
            <a:pPr marL="0" indent="0">
              <a:buNone/>
            </a:pPr>
            <a:r>
              <a:rPr lang="en-US" sz="1400" dirty="0">
                <a:solidFill>
                  <a:srgbClr val="0B2447"/>
                </a:solidFill>
                <a:latin typeface="Calibri" pitchFamily="34" charset="0"/>
                <a:ea typeface="Calibri" pitchFamily="34" charset="-122"/>
                <a:cs typeface="Calibri" pitchFamily="34" charset="-120"/>
              </a:rPr>
              <a:t>"Skill gap identification" and "personalized learning suggestions" tied as the most-wanted platform features (33.3% each).</a:t>
            </a:r>
            <a:endParaRPr lang="en-US" sz="1400" dirty="0"/>
          </a:p>
        </p:txBody>
      </p:sp>
      <p:sp>
        <p:nvSpPr>
          <p:cNvPr id="20" name="Text 1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000" b="1" dirty="0">
                <a:solidFill>
                  <a:srgbClr val="0B2447"/>
                </a:solidFill>
                <a:latin typeface="Cambria" pitchFamily="34" charset="0"/>
                <a:ea typeface="Cambria" pitchFamily="34" charset="-122"/>
                <a:cs typeface="Cambria" pitchFamily="34" charset="-120"/>
              </a:rPr>
              <a:t>The Gap We Found</a:t>
            </a:r>
            <a:endParaRPr lang="en-US" sz="3000" dirty="0"/>
          </a:p>
        </p:txBody>
      </p:sp>
      <p:sp>
        <p:nvSpPr>
          <p:cNvPr id="3" name="Shape 1"/>
          <p:cNvSpPr/>
          <p:nvPr/>
        </p:nvSpPr>
        <p:spPr>
          <a:xfrm>
            <a:off x="548640" y="1737360"/>
            <a:ext cx="3429000" cy="4114800"/>
          </a:xfrm>
          <a:prstGeom prst="roundRect">
            <a:avLst>
              <a:gd name="adj" fmla="val 3200"/>
            </a:avLst>
          </a:prstGeom>
          <a:solidFill>
            <a:srgbClr val="F7FAFC"/>
          </a:solidFill>
          <a:ln w="15875">
            <a:solidFill>
              <a:srgbClr val="19A7CE"/>
            </a:solidFill>
            <a:prstDash val="solid"/>
          </a:ln>
        </p:spPr>
      </p:sp>
      <p:sp>
        <p:nvSpPr>
          <p:cNvPr id="4" name="Shape 2"/>
          <p:cNvSpPr/>
          <p:nvPr/>
        </p:nvSpPr>
        <p:spPr>
          <a:xfrm>
            <a:off x="1988820" y="2011680"/>
            <a:ext cx="548640" cy="548640"/>
          </a:xfrm>
          <a:prstGeom prst="ellipse">
            <a:avLst/>
          </a:prstGeom>
          <a:solidFill>
            <a:srgbClr val="19A7CE"/>
          </a:solidFill>
          <a:ln/>
        </p:spPr>
      </p:sp>
      <p:pic>
        <p:nvPicPr>
          <p:cNvPr id="5" name="Image 0" descr="/home/claude/deck/img/ic_check_teal.png"/>
          <p:cNvPicPr>
            <a:picLocks noChangeAspect="1"/>
          </p:cNvPicPr>
          <p:nvPr/>
        </p:nvPicPr>
        <p:blipFill>
          <a:blip r:embed="rId3"/>
          <a:stretch>
            <a:fillRect/>
          </a:stretch>
        </p:blipFill>
        <p:spPr>
          <a:xfrm>
            <a:off x="2054657" y="2077517"/>
            <a:ext cx="416966" cy="416966"/>
          </a:xfrm>
          <a:prstGeom prst="rect">
            <a:avLst/>
          </a:prstGeom>
        </p:spPr>
      </p:pic>
      <p:sp>
        <p:nvSpPr>
          <p:cNvPr id="6" name="Text 3"/>
          <p:cNvSpPr/>
          <p:nvPr/>
        </p:nvSpPr>
        <p:spPr>
          <a:xfrm>
            <a:off x="548640" y="2697480"/>
            <a:ext cx="3429000" cy="457200"/>
          </a:xfrm>
          <a:prstGeom prst="rect">
            <a:avLst/>
          </a:prstGeom>
          <a:noFill/>
          <a:ln/>
        </p:spPr>
        <p:txBody>
          <a:bodyPr wrap="square" rtlCol="0" anchor="ctr"/>
          <a:lstStyle/>
          <a:p>
            <a:pPr marL="0" indent="0" algn="ctr">
              <a:buNone/>
            </a:pPr>
            <a:r>
              <a:rPr lang="en-US" sz="1500" b="1" dirty="0">
                <a:solidFill>
                  <a:srgbClr val="0B2447"/>
                </a:solidFill>
                <a:latin typeface="Calibri" pitchFamily="34" charset="0"/>
                <a:ea typeface="Calibri" pitchFamily="34" charset="-122"/>
                <a:cs typeface="Calibri" pitchFamily="34" charset="-120"/>
              </a:rPr>
              <a:t>Students Know</a:t>
            </a:r>
            <a:endParaRPr lang="en-US" sz="1500" dirty="0"/>
          </a:p>
        </p:txBody>
      </p:sp>
      <p:sp>
        <p:nvSpPr>
          <p:cNvPr id="7" name="Text 4"/>
          <p:cNvSpPr/>
          <p:nvPr/>
        </p:nvSpPr>
        <p:spPr>
          <a:xfrm>
            <a:off x="868680" y="3291840"/>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Their degree &amp; program</a:t>
            </a:r>
            <a:endParaRPr lang="en-US" sz="1250" dirty="0"/>
          </a:p>
        </p:txBody>
      </p:sp>
      <p:sp>
        <p:nvSpPr>
          <p:cNvPr id="8" name="Text 5"/>
          <p:cNvSpPr/>
          <p:nvPr/>
        </p:nvSpPr>
        <p:spPr>
          <a:xfrm>
            <a:off x="868680" y="3858768"/>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Some of their skills</a:t>
            </a:r>
            <a:endParaRPr lang="en-US" sz="1250" dirty="0"/>
          </a:p>
        </p:txBody>
      </p:sp>
      <p:sp>
        <p:nvSpPr>
          <p:cNvPr id="9" name="Text 6"/>
          <p:cNvSpPr/>
          <p:nvPr/>
        </p:nvSpPr>
        <p:spPr>
          <a:xfrm>
            <a:off x="868680" y="4425696"/>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Their career interests</a:t>
            </a:r>
            <a:endParaRPr lang="en-US" sz="1250" dirty="0"/>
          </a:p>
        </p:txBody>
      </p:sp>
      <p:pic>
        <p:nvPicPr>
          <p:cNvPr id="10" name="Image 1" descr="/home/claude/deck/img/ic_arrow_navy.png"/>
          <p:cNvPicPr>
            <a:picLocks noChangeAspect="1"/>
          </p:cNvPicPr>
          <p:nvPr/>
        </p:nvPicPr>
        <p:blipFill>
          <a:blip r:embed="rId4"/>
          <a:stretch>
            <a:fillRect/>
          </a:stretch>
        </p:blipFill>
        <p:spPr>
          <a:xfrm>
            <a:off x="4050792" y="3593592"/>
            <a:ext cx="365760" cy="402336"/>
          </a:xfrm>
          <a:prstGeom prst="rect">
            <a:avLst/>
          </a:prstGeom>
        </p:spPr>
      </p:pic>
      <p:sp>
        <p:nvSpPr>
          <p:cNvPr id="11" name="Shape 7"/>
          <p:cNvSpPr/>
          <p:nvPr/>
        </p:nvSpPr>
        <p:spPr>
          <a:xfrm>
            <a:off x="4480560" y="1737360"/>
            <a:ext cx="3429000" cy="4114800"/>
          </a:xfrm>
          <a:prstGeom prst="roundRect">
            <a:avLst>
              <a:gd name="adj" fmla="val 3200"/>
            </a:avLst>
          </a:prstGeom>
          <a:solidFill>
            <a:srgbClr val="F7FAFC"/>
          </a:solidFill>
          <a:ln w="15875">
            <a:solidFill>
              <a:srgbClr val="F97B22"/>
            </a:solidFill>
            <a:prstDash val="solid"/>
          </a:ln>
        </p:spPr>
      </p:sp>
      <p:sp>
        <p:nvSpPr>
          <p:cNvPr id="12" name="Shape 8"/>
          <p:cNvSpPr/>
          <p:nvPr/>
        </p:nvSpPr>
        <p:spPr>
          <a:xfrm>
            <a:off x="5920740" y="2011680"/>
            <a:ext cx="548640" cy="548640"/>
          </a:xfrm>
          <a:prstGeom prst="ellipse">
            <a:avLst/>
          </a:prstGeom>
          <a:solidFill>
            <a:srgbClr val="F97B22"/>
          </a:solidFill>
          <a:ln/>
        </p:spPr>
      </p:sp>
      <p:pic>
        <p:nvPicPr>
          <p:cNvPr id="13" name="Image 2" descr="/home/claude/deck/img/ic_xmark_coral.png"/>
          <p:cNvPicPr>
            <a:picLocks noChangeAspect="1"/>
          </p:cNvPicPr>
          <p:nvPr/>
        </p:nvPicPr>
        <p:blipFill>
          <a:blip r:embed="rId5"/>
          <a:stretch>
            <a:fillRect/>
          </a:stretch>
        </p:blipFill>
        <p:spPr>
          <a:xfrm>
            <a:off x="5986577" y="2077517"/>
            <a:ext cx="416966" cy="416966"/>
          </a:xfrm>
          <a:prstGeom prst="rect">
            <a:avLst/>
          </a:prstGeom>
        </p:spPr>
      </p:pic>
      <p:sp>
        <p:nvSpPr>
          <p:cNvPr id="14" name="Text 9"/>
          <p:cNvSpPr/>
          <p:nvPr/>
        </p:nvSpPr>
        <p:spPr>
          <a:xfrm>
            <a:off x="4480560" y="2697480"/>
            <a:ext cx="3429000" cy="457200"/>
          </a:xfrm>
          <a:prstGeom prst="rect">
            <a:avLst/>
          </a:prstGeom>
          <a:noFill/>
          <a:ln/>
        </p:spPr>
        <p:txBody>
          <a:bodyPr wrap="square" rtlCol="0" anchor="ctr"/>
          <a:lstStyle/>
          <a:p>
            <a:pPr marL="0" indent="0" algn="ctr">
              <a:buNone/>
            </a:pPr>
            <a:r>
              <a:rPr lang="en-US" sz="1500" b="1" dirty="0">
                <a:solidFill>
                  <a:srgbClr val="0B2447"/>
                </a:solidFill>
                <a:latin typeface="Calibri" pitchFamily="34" charset="0"/>
                <a:ea typeface="Calibri" pitchFamily="34" charset="-122"/>
                <a:cs typeface="Calibri" pitchFamily="34" charset="-120"/>
              </a:rPr>
              <a:t>But May Struggle With</a:t>
            </a:r>
            <a:endParaRPr lang="en-US" sz="1500" dirty="0"/>
          </a:p>
        </p:txBody>
      </p:sp>
      <p:sp>
        <p:nvSpPr>
          <p:cNvPr id="15" name="Text 10"/>
          <p:cNvSpPr/>
          <p:nvPr/>
        </p:nvSpPr>
        <p:spPr>
          <a:xfrm>
            <a:off x="4800600" y="3291840"/>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Knowing required career skills</a:t>
            </a:r>
            <a:endParaRPr lang="en-US" sz="1250" dirty="0"/>
          </a:p>
        </p:txBody>
      </p:sp>
      <p:sp>
        <p:nvSpPr>
          <p:cNvPr id="16" name="Text 11"/>
          <p:cNvSpPr/>
          <p:nvPr/>
        </p:nvSpPr>
        <p:spPr>
          <a:xfrm>
            <a:off x="4800600" y="3858768"/>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Identifying missing skills</a:t>
            </a:r>
            <a:endParaRPr lang="en-US" sz="1250" dirty="0"/>
          </a:p>
        </p:txBody>
      </p:sp>
      <p:sp>
        <p:nvSpPr>
          <p:cNvPr id="17" name="Text 12"/>
          <p:cNvSpPr/>
          <p:nvPr/>
        </p:nvSpPr>
        <p:spPr>
          <a:xfrm>
            <a:off x="4800600" y="4425696"/>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Planning next concrete steps</a:t>
            </a:r>
            <a:endParaRPr lang="en-US" sz="1250" dirty="0"/>
          </a:p>
        </p:txBody>
      </p:sp>
      <p:sp>
        <p:nvSpPr>
          <p:cNvPr id="18" name="Text 13"/>
          <p:cNvSpPr/>
          <p:nvPr/>
        </p:nvSpPr>
        <p:spPr>
          <a:xfrm>
            <a:off x="4800600" y="4992624"/>
            <a:ext cx="2880360" cy="502920"/>
          </a:xfrm>
          <a:prstGeom prst="rect">
            <a:avLst/>
          </a:prstGeom>
          <a:noFill/>
          <a:ln/>
        </p:spPr>
        <p:txBody>
          <a:bodyPr wrap="square" rtlCol="0" anchor="t"/>
          <a:lstStyle/>
          <a:p>
            <a:pPr marL="0" indent="0">
              <a:buNone/>
            </a:pPr>
            <a:r>
              <a:rPr lang="en-US" sz="1250" dirty="0">
                <a:solidFill>
                  <a:srgbClr val="5C7285"/>
                </a:solidFill>
                <a:latin typeface="Calibri" pitchFamily="34" charset="0"/>
                <a:ea typeface="Calibri" pitchFamily="34" charset="-122"/>
                <a:cs typeface="Calibri" pitchFamily="34" charset="-120"/>
              </a:rPr>
              <a:t>•  Connecting skills to real opportunities</a:t>
            </a:r>
            <a:endParaRPr lang="en-US" sz="1250" dirty="0"/>
          </a:p>
        </p:txBody>
      </p:sp>
      <p:pic>
        <p:nvPicPr>
          <p:cNvPr id="19" name="Image 3" descr="/home/claude/deck/img/ic_arrow_navy.png"/>
          <p:cNvPicPr>
            <a:picLocks noChangeAspect="1"/>
          </p:cNvPicPr>
          <p:nvPr/>
        </p:nvPicPr>
        <p:blipFill>
          <a:blip r:embed="rId4"/>
          <a:stretch>
            <a:fillRect/>
          </a:stretch>
        </p:blipFill>
        <p:spPr>
          <a:xfrm>
            <a:off x="7982712" y="3593592"/>
            <a:ext cx="365760" cy="402336"/>
          </a:xfrm>
          <a:prstGeom prst="rect">
            <a:avLst/>
          </a:prstGeom>
        </p:spPr>
      </p:pic>
      <p:sp>
        <p:nvSpPr>
          <p:cNvPr id="20" name="Shape 14"/>
          <p:cNvSpPr/>
          <p:nvPr/>
        </p:nvSpPr>
        <p:spPr>
          <a:xfrm>
            <a:off x="8412480" y="1737360"/>
            <a:ext cx="3429000" cy="4114800"/>
          </a:xfrm>
          <a:prstGeom prst="roundRect">
            <a:avLst>
              <a:gd name="adj" fmla="val 3200"/>
            </a:avLst>
          </a:prstGeom>
          <a:solidFill>
            <a:srgbClr val="0B2447"/>
          </a:solidFill>
          <a:ln w="15875">
            <a:solidFill>
              <a:srgbClr val="0B2447"/>
            </a:solidFill>
            <a:prstDash val="solid"/>
          </a:ln>
        </p:spPr>
      </p:sp>
      <p:sp>
        <p:nvSpPr>
          <p:cNvPr id="21" name="Shape 15"/>
          <p:cNvSpPr/>
          <p:nvPr/>
        </p:nvSpPr>
        <p:spPr>
          <a:xfrm>
            <a:off x="9852660" y="2011680"/>
            <a:ext cx="548640" cy="548640"/>
          </a:xfrm>
          <a:prstGeom prst="ellipse">
            <a:avLst/>
          </a:prstGeom>
          <a:solidFill>
            <a:srgbClr val="0B2447"/>
          </a:solidFill>
          <a:ln/>
        </p:spPr>
      </p:sp>
      <p:pic>
        <p:nvPicPr>
          <p:cNvPr id="22" name="Image 4" descr="/home/claude/deck/img/ic_bullseye_w.png"/>
          <p:cNvPicPr>
            <a:picLocks noChangeAspect="1"/>
          </p:cNvPicPr>
          <p:nvPr/>
        </p:nvPicPr>
        <p:blipFill>
          <a:blip r:embed="rId6"/>
          <a:stretch>
            <a:fillRect/>
          </a:stretch>
        </p:blipFill>
        <p:spPr>
          <a:xfrm>
            <a:off x="9918497" y="2077517"/>
            <a:ext cx="416966" cy="416966"/>
          </a:xfrm>
          <a:prstGeom prst="rect">
            <a:avLst/>
          </a:prstGeom>
        </p:spPr>
      </p:pic>
      <p:sp>
        <p:nvSpPr>
          <p:cNvPr id="23" name="Text 16"/>
          <p:cNvSpPr/>
          <p:nvPr/>
        </p:nvSpPr>
        <p:spPr>
          <a:xfrm>
            <a:off x="8412480" y="2697480"/>
            <a:ext cx="34290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What They Need</a:t>
            </a:r>
            <a:endParaRPr lang="en-US" sz="1500" dirty="0"/>
          </a:p>
        </p:txBody>
      </p:sp>
      <p:sp>
        <p:nvSpPr>
          <p:cNvPr id="24" name="Text 17"/>
          <p:cNvSpPr/>
          <p:nvPr/>
        </p:nvSpPr>
        <p:spPr>
          <a:xfrm>
            <a:off x="8732520" y="3291840"/>
            <a:ext cx="2880360" cy="50292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A clear skill-gap picture</a:t>
            </a:r>
            <a:endParaRPr lang="en-US" sz="1250" dirty="0"/>
          </a:p>
        </p:txBody>
      </p:sp>
      <p:sp>
        <p:nvSpPr>
          <p:cNvPr id="25" name="Text 18"/>
          <p:cNvSpPr/>
          <p:nvPr/>
        </p:nvSpPr>
        <p:spPr>
          <a:xfrm>
            <a:off x="8732520" y="3858768"/>
            <a:ext cx="2880360" cy="50292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A personalized action plan</a:t>
            </a:r>
            <a:endParaRPr lang="en-US" sz="1250" dirty="0"/>
          </a:p>
        </p:txBody>
      </p:sp>
      <p:sp>
        <p:nvSpPr>
          <p:cNvPr id="26" name="Text 19"/>
          <p:cNvSpPr/>
          <p:nvPr/>
        </p:nvSpPr>
        <p:spPr>
          <a:xfrm>
            <a:off x="8732520" y="4425696"/>
            <a:ext cx="2880360" cy="50292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A bridge to real opportunities</a:t>
            </a:r>
            <a:endParaRPr lang="en-US" sz="1250" dirty="0"/>
          </a:p>
        </p:txBody>
      </p:sp>
      <p:sp>
        <p:nvSpPr>
          <p:cNvPr id="28"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447"/>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Meet SkillBridge</a:t>
            </a:r>
            <a:endParaRPr lang="en-US" sz="3000" dirty="0"/>
          </a:p>
        </p:txBody>
      </p:sp>
      <p:sp>
        <p:nvSpPr>
          <p:cNvPr id="3" name="Text 1"/>
          <p:cNvSpPr/>
          <p:nvPr/>
        </p:nvSpPr>
        <p:spPr>
          <a:xfrm>
            <a:off x="594360" y="1508760"/>
            <a:ext cx="5486400" cy="548640"/>
          </a:xfrm>
          <a:prstGeom prst="rect">
            <a:avLst/>
          </a:prstGeom>
          <a:noFill/>
          <a:ln/>
        </p:spPr>
        <p:txBody>
          <a:bodyPr wrap="square" rtlCol="0" anchor="ctr"/>
          <a:lstStyle/>
          <a:p>
            <a:pPr marL="0" indent="0">
              <a:buNone/>
            </a:pPr>
            <a:r>
              <a:rPr lang="en-US" sz="1500" dirty="0">
                <a:solidFill>
                  <a:srgbClr val="E8F1F5"/>
                </a:solidFill>
                <a:latin typeface="Calibri" pitchFamily="34" charset="0"/>
                <a:ea typeface="Calibri" pitchFamily="34" charset="-122"/>
                <a:cs typeface="Calibri" pitchFamily="34" charset="-120"/>
              </a:rPr>
              <a:t>SkillBridge is a personalized career intelligence platform that analyzes a student's:</a:t>
            </a:r>
            <a:endParaRPr lang="en-US" sz="1500" dirty="0"/>
          </a:p>
        </p:txBody>
      </p:sp>
      <p:sp>
        <p:nvSpPr>
          <p:cNvPr id="4" name="Shape 2"/>
          <p:cNvSpPr/>
          <p:nvPr/>
        </p:nvSpPr>
        <p:spPr>
          <a:xfrm>
            <a:off x="594360" y="2148840"/>
            <a:ext cx="4206240" cy="502920"/>
          </a:xfrm>
          <a:prstGeom prst="roundRect">
            <a:avLst>
              <a:gd name="adj" fmla="val 14545"/>
            </a:avLst>
          </a:prstGeom>
          <a:solidFill>
            <a:srgbClr val="13315C"/>
          </a:solidFill>
          <a:ln/>
        </p:spPr>
      </p:sp>
      <p:sp>
        <p:nvSpPr>
          <p:cNvPr id="5" name="Text 3"/>
          <p:cNvSpPr/>
          <p:nvPr/>
        </p:nvSpPr>
        <p:spPr>
          <a:xfrm>
            <a:off x="822960" y="2148840"/>
            <a:ext cx="3749040" cy="5029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Education</a:t>
            </a:r>
            <a:endParaRPr lang="en-US" sz="1400" dirty="0"/>
          </a:p>
        </p:txBody>
      </p:sp>
      <p:sp>
        <p:nvSpPr>
          <p:cNvPr id="6" name="Shape 4"/>
          <p:cNvSpPr/>
          <p:nvPr/>
        </p:nvSpPr>
        <p:spPr>
          <a:xfrm>
            <a:off x="594360" y="2770632"/>
            <a:ext cx="4206240" cy="502920"/>
          </a:xfrm>
          <a:prstGeom prst="roundRect">
            <a:avLst>
              <a:gd name="adj" fmla="val 14545"/>
            </a:avLst>
          </a:prstGeom>
          <a:solidFill>
            <a:srgbClr val="13315C"/>
          </a:solidFill>
          <a:ln/>
        </p:spPr>
      </p:sp>
      <p:sp>
        <p:nvSpPr>
          <p:cNvPr id="7" name="Text 5"/>
          <p:cNvSpPr/>
          <p:nvPr/>
        </p:nvSpPr>
        <p:spPr>
          <a:xfrm>
            <a:off x="822960" y="2770632"/>
            <a:ext cx="3749040" cy="5029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Skills</a:t>
            </a:r>
            <a:endParaRPr lang="en-US" sz="1400" dirty="0"/>
          </a:p>
        </p:txBody>
      </p:sp>
      <p:sp>
        <p:nvSpPr>
          <p:cNvPr id="8" name="Shape 6"/>
          <p:cNvSpPr/>
          <p:nvPr/>
        </p:nvSpPr>
        <p:spPr>
          <a:xfrm>
            <a:off x="594360" y="3392424"/>
            <a:ext cx="4206240" cy="502920"/>
          </a:xfrm>
          <a:prstGeom prst="roundRect">
            <a:avLst>
              <a:gd name="adj" fmla="val 14545"/>
            </a:avLst>
          </a:prstGeom>
          <a:solidFill>
            <a:srgbClr val="13315C"/>
          </a:solidFill>
          <a:ln/>
        </p:spPr>
      </p:sp>
      <p:sp>
        <p:nvSpPr>
          <p:cNvPr id="9" name="Text 7"/>
          <p:cNvSpPr/>
          <p:nvPr/>
        </p:nvSpPr>
        <p:spPr>
          <a:xfrm>
            <a:off x="822960" y="3392424"/>
            <a:ext cx="3749040" cy="5029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Experience</a:t>
            </a:r>
            <a:endParaRPr lang="en-US" sz="1400" dirty="0"/>
          </a:p>
        </p:txBody>
      </p:sp>
      <p:sp>
        <p:nvSpPr>
          <p:cNvPr id="10" name="Shape 8"/>
          <p:cNvSpPr/>
          <p:nvPr/>
        </p:nvSpPr>
        <p:spPr>
          <a:xfrm>
            <a:off x="594360" y="4014216"/>
            <a:ext cx="4206240" cy="502920"/>
          </a:xfrm>
          <a:prstGeom prst="roundRect">
            <a:avLst>
              <a:gd name="adj" fmla="val 14545"/>
            </a:avLst>
          </a:prstGeom>
          <a:solidFill>
            <a:srgbClr val="13315C"/>
          </a:solidFill>
          <a:ln/>
        </p:spPr>
      </p:sp>
      <p:sp>
        <p:nvSpPr>
          <p:cNvPr id="11" name="Text 9"/>
          <p:cNvSpPr/>
          <p:nvPr/>
        </p:nvSpPr>
        <p:spPr>
          <a:xfrm>
            <a:off x="822960" y="4014216"/>
            <a:ext cx="3749040" cy="5029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Certifications</a:t>
            </a:r>
            <a:endParaRPr lang="en-US" sz="1400" dirty="0"/>
          </a:p>
        </p:txBody>
      </p:sp>
      <p:sp>
        <p:nvSpPr>
          <p:cNvPr id="12" name="Shape 10"/>
          <p:cNvSpPr/>
          <p:nvPr/>
        </p:nvSpPr>
        <p:spPr>
          <a:xfrm>
            <a:off x="594360" y="4636008"/>
            <a:ext cx="4206240" cy="502920"/>
          </a:xfrm>
          <a:prstGeom prst="roundRect">
            <a:avLst>
              <a:gd name="adj" fmla="val 14545"/>
            </a:avLst>
          </a:prstGeom>
          <a:solidFill>
            <a:srgbClr val="13315C"/>
          </a:solidFill>
          <a:ln/>
        </p:spPr>
      </p:sp>
      <p:sp>
        <p:nvSpPr>
          <p:cNvPr id="13" name="Text 11"/>
          <p:cNvSpPr/>
          <p:nvPr/>
        </p:nvSpPr>
        <p:spPr>
          <a:xfrm>
            <a:off x="822960" y="4636008"/>
            <a:ext cx="3749040" cy="5029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Interests</a:t>
            </a:r>
            <a:endParaRPr lang="en-US" sz="1400" dirty="0"/>
          </a:p>
        </p:txBody>
      </p:sp>
      <p:pic>
        <p:nvPicPr>
          <p:cNvPr id="14" name="Image 0" descr="/home/claude/deck/img/ic_arrow_w.png"/>
          <p:cNvPicPr>
            <a:picLocks noChangeAspect="1"/>
          </p:cNvPicPr>
          <p:nvPr/>
        </p:nvPicPr>
        <p:blipFill>
          <a:blip r:embed="rId3"/>
          <a:stretch>
            <a:fillRect/>
          </a:stretch>
        </p:blipFill>
        <p:spPr>
          <a:xfrm>
            <a:off x="5074920" y="3474720"/>
            <a:ext cx="640080" cy="640080"/>
          </a:xfrm>
          <a:prstGeom prst="rect">
            <a:avLst/>
          </a:prstGeom>
        </p:spPr>
      </p:pic>
      <p:sp>
        <p:nvSpPr>
          <p:cNvPr id="15" name="Shape 12"/>
          <p:cNvSpPr/>
          <p:nvPr/>
        </p:nvSpPr>
        <p:spPr>
          <a:xfrm>
            <a:off x="6035040" y="1508760"/>
            <a:ext cx="5577840" cy="4617720"/>
          </a:xfrm>
          <a:prstGeom prst="roundRect">
            <a:avLst>
              <a:gd name="adj" fmla="val 2772"/>
            </a:avLst>
          </a:prstGeom>
          <a:solidFill>
            <a:srgbClr val="19A7CE"/>
          </a:solidFill>
          <a:ln/>
        </p:spPr>
      </p:sp>
      <p:sp>
        <p:nvSpPr>
          <p:cNvPr id="16" name="Text 13"/>
          <p:cNvSpPr/>
          <p:nvPr/>
        </p:nvSpPr>
        <p:spPr>
          <a:xfrm>
            <a:off x="6309360" y="1737360"/>
            <a:ext cx="5029200" cy="365760"/>
          </a:xfrm>
          <a:prstGeom prst="rect">
            <a:avLst/>
          </a:prstGeom>
          <a:noFill/>
          <a:ln/>
        </p:spPr>
        <p:txBody>
          <a:bodyPr wrap="square" rtlCol="0" anchor="ctr"/>
          <a:lstStyle/>
          <a:p>
            <a:pPr marL="0" indent="0">
              <a:buNone/>
            </a:pPr>
            <a:r>
              <a:rPr lang="en-US" sz="1300" dirty="0">
                <a:solidFill>
                  <a:srgbClr val="0B2447"/>
                </a:solidFill>
                <a:latin typeface="Calibri" pitchFamily="34" charset="0"/>
                <a:ea typeface="Calibri" pitchFamily="34" charset="-122"/>
                <a:cs typeface="Calibri" pitchFamily="34" charset="-120"/>
              </a:rPr>
              <a:t>...and provides</a:t>
            </a:r>
            <a:endParaRPr lang="en-US" sz="1300" dirty="0"/>
          </a:p>
        </p:txBody>
      </p:sp>
      <p:sp>
        <p:nvSpPr>
          <p:cNvPr id="17" name="Shape 14"/>
          <p:cNvSpPr/>
          <p:nvPr/>
        </p:nvSpPr>
        <p:spPr>
          <a:xfrm>
            <a:off x="6355080" y="2286000"/>
            <a:ext cx="594360" cy="594360"/>
          </a:xfrm>
          <a:prstGeom prst="ellipse">
            <a:avLst/>
          </a:prstGeom>
          <a:solidFill>
            <a:srgbClr val="0B2447"/>
          </a:solidFill>
          <a:ln/>
        </p:spPr>
      </p:sp>
      <p:pic>
        <p:nvPicPr>
          <p:cNvPr id="18" name="Image 1" descr="/home/claude/deck/img/ic_compass_w.png"/>
          <p:cNvPicPr>
            <a:picLocks noChangeAspect="1"/>
          </p:cNvPicPr>
          <p:nvPr/>
        </p:nvPicPr>
        <p:blipFill>
          <a:blip r:embed="rId4"/>
          <a:stretch>
            <a:fillRect/>
          </a:stretch>
        </p:blipFill>
        <p:spPr>
          <a:xfrm>
            <a:off x="6426403" y="2357323"/>
            <a:ext cx="451714" cy="451714"/>
          </a:xfrm>
          <a:prstGeom prst="rect">
            <a:avLst/>
          </a:prstGeom>
        </p:spPr>
      </p:pic>
      <p:sp>
        <p:nvSpPr>
          <p:cNvPr id="19" name="Text 15"/>
          <p:cNvSpPr/>
          <p:nvPr/>
        </p:nvSpPr>
        <p:spPr>
          <a:xfrm>
            <a:off x="7132320" y="2359152"/>
            <a:ext cx="4206240" cy="457200"/>
          </a:xfrm>
          <a:prstGeom prst="rect">
            <a:avLst/>
          </a:prstGeom>
          <a:noFill/>
          <a:ln/>
        </p:spPr>
        <p:txBody>
          <a:bodyPr wrap="square" rtlCol="0" anchor="ctr"/>
          <a:lstStyle/>
          <a:p>
            <a:pPr marL="0" indent="0">
              <a:buNone/>
            </a:pPr>
            <a:r>
              <a:rPr lang="en-US" sz="1800" b="1" dirty="0">
                <a:solidFill>
                  <a:srgbClr val="0B2447"/>
                </a:solidFill>
                <a:latin typeface="Cambria" pitchFamily="34" charset="0"/>
                <a:ea typeface="Cambria" pitchFamily="34" charset="-122"/>
                <a:cs typeface="Cambria" pitchFamily="34" charset="-120"/>
              </a:rPr>
              <a:t>Career Recommendations</a:t>
            </a:r>
            <a:endParaRPr lang="en-US" sz="1800" dirty="0"/>
          </a:p>
        </p:txBody>
      </p:sp>
      <p:sp>
        <p:nvSpPr>
          <p:cNvPr id="20" name="Shape 16"/>
          <p:cNvSpPr/>
          <p:nvPr/>
        </p:nvSpPr>
        <p:spPr>
          <a:xfrm>
            <a:off x="6355080" y="3246120"/>
            <a:ext cx="594360" cy="594360"/>
          </a:xfrm>
          <a:prstGeom prst="ellipse">
            <a:avLst/>
          </a:prstGeom>
          <a:solidFill>
            <a:srgbClr val="0B2447"/>
          </a:solidFill>
          <a:ln/>
        </p:spPr>
      </p:sp>
      <p:pic>
        <p:nvPicPr>
          <p:cNvPr id="21" name="Image 2" descr="/home/claude/deck/img/ic_briefcase_w.png"/>
          <p:cNvPicPr>
            <a:picLocks noChangeAspect="1"/>
          </p:cNvPicPr>
          <p:nvPr/>
        </p:nvPicPr>
        <p:blipFill>
          <a:blip r:embed="rId5"/>
          <a:stretch>
            <a:fillRect/>
          </a:stretch>
        </p:blipFill>
        <p:spPr>
          <a:xfrm>
            <a:off x="6426403" y="3317443"/>
            <a:ext cx="451714" cy="451714"/>
          </a:xfrm>
          <a:prstGeom prst="rect">
            <a:avLst/>
          </a:prstGeom>
        </p:spPr>
      </p:pic>
      <p:sp>
        <p:nvSpPr>
          <p:cNvPr id="22" name="Text 17"/>
          <p:cNvSpPr/>
          <p:nvPr/>
        </p:nvSpPr>
        <p:spPr>
          <a:xfrm>
            <a:off x="7132320" y="3319272"/>
            <a:ext cx="4206240" cy="457200"/>
          </a:xfrm>
          <a:prstGeom prst="rect">
            <a:avLst/>
          </a:prstGeom>
          <a:noFill/>
          <a:ln/>
        </p:spPr>
        <p:txBody>
          <a:bodyPr wrap="square" rtlCol="0" anchor="ctr"/>
          <a:lstStyle/>
          <a:p>
            <a:pPr marL="0" indent="0">
              <a:buNone/>
            </a:pPr>
            <a:r>
              <a:rPr lang="en-US" sz="1800" b="1" dirty="0">
                <a:solidFill>
                  <a:srgbClr val="0B2447"/>
                </a:solidFill>
                <a:latin typeface="Cambria" pitchFamily="34" charset="0"/>
                <a:ea typeface="Cambria" pitchFamily="34" charset="-122"/>
                <a:cs typeface="Cambria" pitchFamily="34" charset="-120"/>
              </a:rPr>
              <a:t>Job Matching</a:t>
            </a:r>
            <a:endParaRPr lang="en-US" sz="1800" dirty="0"/>
          </a:p>
        </p:txBody>
      </p:sp>
      <p:sp>
        <p:nvSpPr>
          <p:cNvPr id="23" name="Shape 18"/>
          <p:cNvSpPr/>
          <p:nvPr/>
        </p:nvSpPr>
        <p:spPr>
          <a:xfrm>
            <a:off x="6355080" y="4206240"/>
            <a:ext cx="594360" cy="594360"/>
          </a:xfrm>
          <a:prstGeom prst="ellipse">
            <a:avLst/>
          </a:prstGeom>
          <a:solidFill>
            <a:srgbClr val="0B2447"/>
          </a:solidFill>
          <a:ln/>
        </p:spPr>
      </p:sp>
      <p:pic>
        <p:nvPicPr>
          <p:cNvPr id="24" name="Image 3" descr="/home/claude/deck/img/ic_magchart_w.png"/>
          <p:cNvPicPr>
            <a:picLocks noChangeAspect="1"/>
          </p:cNvPicPr>
          <p:nvPr/>
        </p:nvPicPr>
        <p:blipFill>
          <a:blip r:embed="rId6"/>
          <a:stretch>
            <a:fillRect/>
          </a:stretch>
        </p:blipFill>
        <p:spPr>
          <a:xfrm>
            <a:off x="6426403" y="4277563"/>
            <a:ext cx="451714" cy="451714"/>
          </a:xfrm>
          <a:prstGeom prst="rect">
            <a:avLst/>
          </a:prstGeom>
        </p:spPr>
      </p:pic>
      <p:sp>
        <p:nvSpPr>
          <p:cNvPr id="25" name="Text 19"/>
          <p:cNvSpPr/>
          <p:nvPr/>
        </p:nvSpPr>
        <p:spPr>
          <a:xfrm>
            <a:off x="7132320" y="4279392"/>
            <a:ext cx="4206240" cy="457200"/>
          </a:xfrm>
          <a:prstGeom prst="rect">
            <a:avLst/>
          </a:prstGeom>
          <a:noFill/>
          <a:ln/>
        </p:spPr>
        <p:txBody>
          <a:bodyPr wrap="square" rtlCol="0" anchor="ctr"/>
          <a:lstStyle/>
          <a:p>
            <a:pPr marL="0" indent="0">
              <a:buNone/>
            </a:pPr>
            <a:r>
              <a:rPr lang="en-US" sz="1800" b="1" dirty="0">
                <a:solidFill>
                  <a:srgbClr val="0B2447"/>
                </a:solidFill>
                <a:latin typeface="Cambria" pitchFamily="34" charset="0"/>
                <a:ea typeface="Cambria" pitchFamily="34" charset="-122"/>
                <a:cs typeface="Cambria" pitchFamily="34" charset="-120"/>
              </a:rPr>
              <a:t>Skill Gap Analysis</a:t>
            </a:r>
            <a:endParaRPr lang="en-US" sz="1800" dirty="0"/>
          </a:p>
        </p:txBody>
      </p:sp>
      <p:sp>
        <p:nvSpPr>
          <p:cNvPr id="27"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000" b="1" dirty="0">
                <a:solidFill>
                  <a:srgbClr val="0B2447"/>
                </a:solidFill>
                <a:latin typeface="Cambria" pitchFamily="34" charset="0"/>
                <a:ea typeface="Cambria" pitchFamily="34" charset="-122"/>
                <a:cs typeface="Cambria" pitchFamily="34" charset="-120"/>
              </a:rPr>
              <a:t>How SkillBridge Works</a:t>
            </a:r>
            <a:endParaRPr lang="en-US" sz="3000" dirty="0"/>
          </a:p>
        </p:txBody>
      </p:sp>
      <p:sp>
        <p:nvSpPr>
          <p:cNvPr id="3" name="Shape 1"/>
          <p:cNvSpPr/>
          <p:nvPr/>
        </p:nvSpPr>
        <p:spPr>
          <a:xfrm>
            <a:off x="594360" y="1691640"/>
            <a:ext cx="2697480" cy="2011680"/>
          </a:xfrm>
          <a:prstGeom prst="roundRect">
            <a:avLst>
              <a:gd name="adj" fmla="val 4545"/>
            </a:avLst>
          </a:prstGeom>
          <a:solidFill>
            <a:srgbClr val="0B2447"/>
          </a:solidFill>
          <a:ln/>
        </p:spPr>
      </p:sp>
      <p:sp>
        <p:nvSpPr>
          <p:cNvPr id="4" name="Shape 2"/>
          <p:cNvSpPr/>
          <p:nvPr/>
        </p:nvSpPr>
        <p:spPr>
          <a:xfrm>
            <a:off x="1623060" y="1920240"/>
            <a:ext cx="640080" cy="640080"/>
          </a:xfrm>
          <a:prstGeom prst="ellipse">
            <a:avLst/>
          </a:prstGeom>
          <a:solidFill>
            <a:srgbClr val="13315C"/>
          </a:solidFill>
          <a:ln/>
        </p:spPr>
      </p:sp>
      <p:pic>
        <p:nvPicPr>
          <p:cNvPr id="5" name="Image 0" descr="/home/claude/deck/img/ic_usergrad_w.png"/>
          <p:cNvPicPr>
            <a:picLocks noChangeAspect="1"/>
          </p:cNvPicPr>
          <p:nvPr/>
        </p:nvPicPr>
        <p:blipFill>
          <a:blip r:embed="rId3"/>
          <a:stretch>
            <a:fillRect/>
          </a:stretch>
        </p:blipFill>
        <p:spPr>
          <a:xfrm>
            <a:off x="1699870" y="1997050"/>
            <a:ext cx="486461" cy="486461"/>
          </a:xfrm>
          <a:prstGeom prst="rect">
            <a:avLst/>
          </a:prstGeom>
        </p:spPr>
      </p:pic>
      <p:sp>
        <p:nvSpPr>
          <p:cNvPr id="6" name="Text 3"/>
          <p:cNvSpPr/>
          <p:nvPr/>
        </p:nvSpPr>
        <p:spPr>
          <a:xfrm>
            <a:off x="731520" y="269748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Student Profile</a:t>
            </a:r>
            <a:endParaRPr lang="en-US" sz="1250" dirty="0"/>
          </a:p>
        </p:txBody>
      </p:sp>
      <p:pic>
        <p:nvPicPr>
          <p:cNvPr id="7" name="Image 1" descr="/home/claude/deck/img/ic_arrow_w.png"/>
          <p:cNvPicPr>
            <a:picLocks noChangeAspect="1"/>
          </p:cNvPicPr>
          <p:nvPr/>
        </p:nvPicPr>
        <p:blipFill>
          <a:blip r:embed="rId4"/>
          <a:stretch>
            <a:fillRect/>
          </a:stretch>
        </p:blipFill>
        <p:spPr>
          <a:xfrm>
            <a:off x="3300984" y="2560320"/>
            <a:ext cx="274320" cy="274320"/>
          </a:xfrm>
          <a:prstGeom prst="rect">
            <a:avLst/>
          </a:prstGeom>
        </p:spPr>
      </p:pic>
      <p:sp>
        <p:nvSpPr>
          <p:cNvPr id="8" name="Shape 4"/>
          <p:cNvSpPr/>
          <p:nvPr/>
        </p:nvSpPr>
        <p:spPr>
          <a:xfrm>
            <a:off x="3429000" y="1691640"/>
            <a:ext cx="2697480" cy="2011680"/>
          </a:xfrm>
          <a:prstGeom prst="roundRect">
            <a:avLst>
              <a:gd name="adj" fmla="val 4545"/>
            </a:avLst>
          </a:prstGeom>
          <a:solidFill>
            <a:srgbClr val="0B2447"/>
          </a:solidFill>
          <a:ln/>
        </p:spPr>
      </p:sp>
      <p:sp>
        <p:nvSpPr>
          <p:cNvPr id="9" name="Shape 5"/>
          <p:cNvSpPr/>
          <p:nvPr/>
        </p:nvSpPr>
        <p:spPr>
          <a:xfrm>
            <a:off x="4457700" y="1920240"/>
            <a:ext cx="640080" cy="640080"/>
          </a:xfrm>
          <a:prstGeom prst="ellipse">
            <a:avLst/>
          </a:prstGeom>
          <a:solidFill>
            <a:srgbClr val="13315C"/>
          </a:solidFill>
          <a:ln/>
        </p:spPr>
      </p:sp>
      <p:pic>
        <p:nvPicPr>
          <p:cNvPr id="10" name="Image 2" descr="/home/claude/deck/img/ic_layers_w.png"/>
          <p:cNvPicPr>
            <a:picLocks noChangeAspect="1"/>
          </p:cNvPicPr>
          <p:nvPr/>
        </p:nvPicPr>
        <p:blipFill>
          <a:blip r:embed="rId5"/>
          <a:stretch>
            <a:fillRect/>
          </a:stretch>
        </p:blipFill>
        <p:spPr>
          <a:xfrm>
            <a:off x="4534510" y="1997050"/>
            <a:ext cx="486461" cy="486461"/>
          </a:xfrm>
          <a:prstGeom prst="rect">
            <a:avLst/>
          </a:prstGeom>
        </p:spPr>
      </p:pic>
      <p:sp>
        <p:nvSpPr>
          <p:cNvPr id="11" name="Text 6"/>
          <p:cNvSpPr/>
          <p:nvPr/>
        </p:nvSpPr>
        <p:spPr>
          <a:xfrm>
            <a:off x="3566160" y="269748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Education + Skills + Experience + Interests</a:t>
            </a:r>
            <a:endParaRPr lang="en-US" sz="1250" dirty="0"/>
          </a:p>
        </p:txBody>
      </p:sp>
      <p:pic>
        <p:nvPicPr>
          <p:cNvPr id="12" name="Image 3" descr="/home/claude/deck/img/ic_arrow_w.png"/>
          <p:cNvPicPr>
            <a:picLocks noChangeAspect="1"/>
          </p:cNvPicPr>
          <p:nvPr/>
        </p:nvPicPr>
        <p:blipFill>
          <a:blip r:embed="rId4"/>
          <a:stretch>
            <a:fillRect/>
          </a:stretch>
        </p:blipFill>
        <p:spPr>
          <a:xfrm>
            <a:off x="6135624" y="2560320"/>
            <a:ext cx="274320" cy="274320"/>
          </a:xfrm>
          <a:prstGeom prst="rect">
            <a:avLst/>
          </a:prstGeom>
        </p:spPr>
      </p:pic>
      <p:sp>
        <p:nvSpPr>
          <p:cNvPr id="13" name="Shape 7"/>
          <p:cNvSpPr/>
          <p:nvPr/>
        </p:nvSpPr>
        <p:spPr>
          <a:xfrm>
            <a:off x="6263640" y="1691640"/>
            <a:ext cx="2697480" cy="2011680"/>
          </a:xfrm>
          <a:prstGeom prst="roundRect">
            <a:avLst>
              <a:gd name="adj" fmla="val 4545"/>
            </a:avLst>
          </a:prstGeom>
          <a:solidFill>
            <a:srgbClr val="0B2447"/>
          </a:solidFill>
          <a:ln/>
        </p:spPr>
      </p:sp>
      <p:sp>
        <p:nvSpPr>
          <p:cNvPr id="14" name="Shape 8"/>
          <p:cNvSpPr/>
          <p:nvPr/>
        </p:nvSpPr>
        <p:spPr>
          <a:xfrm>
            <a:off x="7292340" y="1920240"/>
            <a:ext cx="640080" cy="640080"/>
          </a:xfrm>
          <a:prstGeom prst="ellipse">
            <a:avLst/>
          </a:prstGeom>
          <a:solidFill>
            <a:srgbClr val="13315C"/>
          </a:solidFill>
          <a:ln/>
        </p:spPr>
      </p:sp>
      <p:pic>
        <p:nvPicPr>
          <p:cNvPr id="15" name="Image 4" descr="/home/claude/deck/img/ic_brain_w.png"/>
          <p:cNvPicPr>
            <a:picLocks noChangeAspect="1"/>
          </p:cNvPicPr>
          <p:nvPr/>
        </p:nvPicPr>
        <p:blipFill>
          <a:blip r:embed="rId6"/>
          <a:stretch>
            <a:fillRect/>
          </a:stretch>
        </p:blipFill>
        <p:spPr>
          <a:xfrm>
            <a:off x="7369150" y="1997050"/>
            <a:ext cx="486461" cy="486461"/>
          </a:xfrm>
          <a:prstGeom prst="rect">
            <a:avLst/>
          </a:prstGeom>
        </p:spPr>
      </p:pic>
      <p:sp>
        <p:nvSpPr>
          <p:cNvPr id="16" name="Text 9"/>
          <p:cNvSpPr/>
          <p:nvPr/>
        </p:nvSpPr>
        <p:spPr>
          <a:xfrm>
            <a:off x="6400800" y="269748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ML Career Recommendation</a:t>
            </a:r>
            <a:endParaRPr lang="en-US" sz="1250" dirty="0"/>
          </a:p>
        </p:txBody>
      </p:sp>
      <p:pic>
        <p:nvPicPr>
          <p:cNvPr id="17" name="Image 5" descr="/home/claude/deck/img/ic_arrow_w.png"/>
          <p:cNvPicPr>
            <a:picLocks noChangeAspect="1"/>
          </p:cNvPicPr>
          <p:nvPr/>
        </p:nvPicPr>
        <p:blipFill>
          <a:blip r:embed="rId4"/>
          <a:stretch>
            <a:fillRect/>
          </a:stretch>
        </p:blipFill>
        <p:spPr>
          <a:xfrm>
            <a:off x="8970264" y="2560320"/>
            <a:ext cx="274320" cy="274320"/>
          </a:xfrm>
          <a:prstGeom prst="rect">
            <a:avLst/>
          </a:prstGeom>
        </p:spPr>
      </p:pic>
      <p:sp>
        <p:nvSpPr>
          <p:cNvPr id="18" name="Shape 10"/>
          <p:cNvSpPr/>
          <p:nvPr/>
        </p:nvSpPr>
        <p:spPr>
          <a:xfrm>
            <a:off x="9098280" y="1691640"/>
            <a:ext cx="2697480" cy="2011680"/>
          </a:xfrm>
          <a:prstGeom prst="roundRect">
            <a:avLst>
              <a:gd name="adj" fmla="val 4545"/>
            </a:avLst>
          </a:prstGeom>
          <a:solidFill>
            <a:srgbClr val="0B2447"/>
          </a:solidFill>
          <a:ln/>
        </p:spPr>
      </p:sp>
      <p:sp>
        <p:nvSpPr>
          <p:cNvPr id="19" name="Shape 11"/>
          <p:cNvSpPr/>
          <p:nvPr/>
        </p:nvSpPr>
        <p:spPr>
          <a:xfrm>
            <a:off x="10126980" y="1920240"/>
            <a:ext cx="640080" cy="640080"/>
          </a:xfrm>
          <a:prstGeom prst="ellipse">
            <a:avLst/>
          </a:prstGeom>
          <a:solidFill>
            <a:srgbClr val="13315C"/>
          </a:solidFill>
          <a:ln/>
        </p:spPr>
      </p:sp>
      <p:pic>
        <p:nvPicPr>
          <p:cNvPr id="20" name="Image 6" descr="/home/claude/deck/img/ic_compass_w.png"/>
          <p:cNvPicPr>
            <a:picLocks noChangeAspect="1"/>
          </p:cNvPicPr>
          <p:nvPr/>
        </p:nvPicPr>
        <p:blipFill>
          <a:blip r:embed="rId7"/>
          <a:stretch>
            <a:fillRect/>
          </a:stretch>
        </p:blipFill>
        <p:spPr>
          <a:xfrm>
            <a:off x="10203790" y="1997050"/>
            <a:ext cx="486461" cy="486461"/>
          </a:xfrm>
          <a:prstGeom prst="rect">
            <a:avLst/>
          </a:prstGeom>
        </p:spPr>
      </p:pic>
      <p:sp>
        <p:nvSpPr>
          <p:cNvPr id="21" name="Text 12"/>
          <p:cNvSpPr/>
          <p:nvPr/>
        </p:nvSpPr>
        <p:spPr>
          <a:xfrm>
            <a:off x="9235440" y="269748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Top Career Paths</a:t>
            </a:r>
            <a:endParaRPr lang="en-US" sz="1250" dirty="0"/>
          </a:p>
        </p:txBody>
      </p:sp>
      <p:sp>
        <p:nvSpPr>
          <p:cNvPr id="22" name="Shape 13"/>
          <p:cNvSpPr/>
          <p:nvPr/>
        </p:nvSpPr>
        <p:spPr>
          <a:xfrm>
            <a:off x="594360" y="4023360"/>
            <a:ext cx="2697480" cy="2011680"/>
          </a:xfrm>
          <a:prstGeom prst="roundRect">
            <a:avLst>
              <a:gd name="adj" fmla="val 4545"/>
            </a:avLst>
          </a:prstGeom>
          <a:solidFill>
            <a:srgbClr val="19A7CE"/>
          </a:solidFill>
          <a:ln/>
        </p:spPr>
      </p:sp>
      <p:sp>
        <p:nvSpPr>
          <p:cNvPr id="23" name="Shape 14"/>
          <p:cNvSpPr/>
          <p:nvPr/>
        </p:nvSpPr>
        <p:spPr>
          <a:xfrm>
            <a:off x="1623060" y="4251960"/>
            <a:ext cx="640080" cy="640080"/>
          </a:xfrm>
          <a:prstGeom prst="ellipse">
            <a:avLst/>
          </a:prstGeom>
          <a:solidFill>
            <a:srgbClr val="0F7FA3"/>
          </a:solidFill>
          <a:ln/>
        </p:spPr>
      </p:sp>
      <p:pic>
        <p:nvPicPr>
          <p:cNvPr id="24" name="Image 7" descr="/home/claude/deck/img/ic_briefcase_w.png"/>
          <p:cNvPicPr>
            <a:picLocks noChangeAspect="1"/>
          </p:cNvPicPr>
          <p:nvPr/>
        </p:nvPicPr>
        <p:blipFill>
          <a:blip r:embed="rId8"/>
          <a:stretch>
            <a:fillRect/>
          </a:stretch>
        </p:blipFill>
        <p:spPr>
          <a:xfrm>
            <a:off x="1699870" y="4328770"/>
            <a:ext cx="486461" cy="486461"/>
          </a:xfrm>
          <a:prstGeom prst="rect">
            <a:avLst/>
          </a:prstGeom>
        </p:spPr>
      </p:pic>
      <p:sp>
        <p:nvSpPr>
          <p:cNvPr id="25" name="Text 15"/>
          <p:cNvSpPr/>
          <p:nvPr/>
        </p:nvSpPr>
        <p:spPr>
          <a:xfrm>
            <a:off x="731520" y="502920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Job Requirement Matching</a:t>
            </a:r>
            <a:endParaRPr lang="en-US" sz="1250" dirty="0"/>
          </a:p>
        </p:txBody>
      </p:sp>
      <p:pic>
        <p:nvPicPr>
          <p:cNvPr id="26" name="Image 8" descr="/home/claude/deck/img/ic_arrow_w.png"/>
          <p:cNvPicPr>
            <a:picLocks noChangeAspect="1"/>
          </p:cNvPicPr>
          <p:nvPr/>
        </p:nvPicPr>
        <p:blipFill>
          <a:blip r:embed="rId4"/>
          <a:stretch>
            <a:fillRect/>
          </a:stretch>
        </p:blipFill>
        <p:spPr>
          <a:xfrm>
            <a:off x="3300984" y="4892040"/>
            <a:ext cx="274320" cy="274320"/>
          </a:xfrm>
          <a:prstGeom prst="rect">
            <a:avLst/>
          </a:prstGeom>
        </p:spPr>
      </p:pic>
      <p:sp>
        <p:nvSpPr>
          <p:cNvPr id="27" name="Shape 16"/>
          <p:cNvSpPr/>
          <p:nvPr/>
        </p:nvSpPr>
        <p:spPr>
          <a:xfrm>
            <a:off x="3429000" y="4023360"/>
            <a:ext cx="2697480" cy="2011680"/>
          </a:xfrm>
          <a:prstGeom prst="roundRect">
            <a:avLst>
              <a:gd name="adj" fmla="val 4545"/>
            </a:avLst>
          </a:prstGeom>
          <a:solidFill>
            <a:srgbClr val="19A7CE"/>
          </a:solidFill>
          <a:ln/>
        </p:spPr>
      </p:sp>
      <p:sp>
        <p:nvSpPr>
          <p:cNvPr id="28" name="Shape 17"/>
          <p:cNvSpPr/>
          <p:nvPr/>
        </p:nvSpPr>
        <p:spPr>
          <a:xfrm>
            <a:off x="4457700" y="4251960"/>
            <a:ext cx="640080" cy="640080"/>
          </a:xfrm>
          <a:prstGeom prst="ellipse">
            <a:avLst/>
          </a:prstGeom>
          <a:solidFill>
            <a:srgbClr val="0F7FA3"/>
          </a:solidFill>
          <a:ln/>
        </p:spPr>
      </p:sp>
      <p:pic>
        <p:nvPicPr>
          <p:cNvPr id="29" name="Image 9" descr="/home/claude/deck/img/ic_magchart_w.png"/>
          <p:cNvPicPr>
            <a:picLocks noChangeAspect="1"/>
          </p:cNvPicPr>
          <p:nvPr/>
        </p:nvPicPr>
        <p:blipFill>
          <a:blip r:embed="rId9"/>
          <a:stretch>
            <a:fillRect/>
          </a:stretch>
        </p:blipFill>
        <p:spPr>
          <a:xfrm>
            <a:off x="4534510" y="4328770"/>
            <a:ext cx="486461" cy="486461"/>
          </a:xfrm>
          <a:prstGeom prst="rect">
            <a:avLst/>
          </a:prstGeom>
        </p:spPr>
      </p:pic>
      <p:sp>
        <p:nvSpPr>
          <p:cNvPr id="30" name="Text 18"/>
          <p:cNvSpPr/>
          <p:nvPr/>
        </p:nvSpPr>
        <p:spPr>
          <a:xfrm>
            <a:off x="3566160" y="502920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Skill Gap Analysis</a:t>
            </a:r>
            <a:endParaRPr lang="en-US" sz="1250" dirty="0"/>
          </a:p>
        </p:txBody>
      </p:sp>
      <p:pic>
        <p:nvPicPr>
          <p:cNvPr id="31" name="Image 10" descr="/home/claude/deck/img/ic_arrow_w.png"/>
          <p:cNvPicPr>
            <a:picLocks noChangeAspect="1"/>
          </p:cNvPicPr>
          <p:nvPr/>
        </p:nvPicPr>
        <p:blipFill>
          <a:blip r:embed="rId4"/>
          <a:stretch>
            <a:fillRect/>
          </a:stretch>
        </p:blipFill>
        <p:spPr>
          <a:xfrm>
            <a:off x="6135624" y="4892040"/>
            <a:ext cx="274320" cy="274320"/>
          </a:xfrm>
          <a:prstGeom prst="rect">
            <a:avLst/>
          </a:prstGeom>
        </p:spPr>
      </p:pic>
      <p:sp>
        <p:nvSpPr>
          <p:cNvPr id="32" name="Shape 19"/>
          <p:cNvSpPr/>
          <p:nvPr/>
        </p:nvSpPr>
        <p:spPr>
          <a:xfrm>
            <a:off x="6263640" y="4023360"/>
            <a:ext cx="2697480" cy="2011680"/>
          </a:xfrm>
          <a:prstGeom prst="roundRect">
            <a:avLst>
              <a:gd name="adj" fmla="val 4545"/>
            </a:avLst>
          </a:prstGeom>
          <a:solidFill>
            <a:srgbClr val="19A7CE"/>
          </a:solidFill>
          <a:ln/>
        </p:spPr>
      </p:sp>
      <p:sp>
        <p:nvSpPr>
          <p:cNvPr id="33" name="Shape 20"/>
          <p:cNvSpPr/>
          <p:nvPr/>
        </p:nvSpPr>
        <p:spPr>
          <a:xfrm>
            <a:off x="7292340" y="4251960"/>
            <a:ext cx="640080" cy="640080"/>
          </a:xfrm>
          <a:prstGeom prst="ellipse">
            <a:avLst/>
          </a:prstGeom>
          <a:solidFill>
            <a:srgbClr val="0F7FA3"/>
          </a:solidFill>
          <a:ln/>
        </p:spPr>
      </p:sp>
      <p:pic>
        <p:nvPicPr>
          <p:cNvPr id="34" name="Image 11" descr="/home/claude/deck/img/ic_bullseye_w.png"/>
          <p:cNvPicPr>
            <a:picLocks noChangeAspect="1"/>
          </p:cNvPicPr>
          <p:nvPr/>
        </p:nvPicPr>
        <p:blipFill>
          <a:blip r:embed="rId10"/>
          <a:stretch>
            <a:fillRect/>
          </a:stretch>
        </p:blipFill>
        <p:spPr>
          <a:xfrm>
            <a:off x="7369150" y="4328770"/>
            <a:ext cx="486461" cy="486461"/>
          </a:xfrm>
          <a:prstGeom prst="rect">
            <a:avLst/>
          </a:prstGeom>
        </p:spPr>
      </p:pic>
      <p:sp>
        <p:nvSpPr>
          <p:cNvPr id="35" name="Text 21"/>
          <p:cNvSpPr/>
          <p:nvPr/>
        </p:nvSpPr>
        <p:spPr>
          <a:xfrm>
            <a:off x="6400800" y="502920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Priority Skills</a:t>
            </a:r>
            <a:endParaRPr lang="en-US" sz="1250" dirty="0"/>
          </a:p>
        </p:txBody>
      </p:sp>
      <p:pic>
        <p:nvPicPr>
          <p:cNvPr id="36" name="Image 12" descr="/home/claude/deck/img/ic_arrow_w.png"/>
          <p:cNvPicPr>
            <a:picLocks noChangeAspect="1"/>
          </p:cNvPicPr>
          <p:nvPr/>
        </p:nvPicPr>
        <p:blipFill>
          <a:blip r:embed="rId4"/>
          <a:stretch>
            <a:fillRect/>
          </a:stretch>
        </p:blipFill>
        <p:spPr>
          <a:xfrm>
            <a:off x="8970264" y="4892040"/>
            <a:ext cx="274320" cy="274320"/>
          </a:xfrm>
          <a:prstGeom prst="rect">
            <a:avLst/>
          </a:prstGeom>
        </p:spPr>
      </p:pic>
      <p:sp>
        <p:nvSpPr>
          <p:cNvPr id="37" name="Shape 22"/>
          <p:cNvSpPr/>
          <p:nvPr/>
        </p:nvSpPr>
        <p:spPr>
          <a:xfrm>
            <a:off x="9098280" y="4023360"/>
            <a:ext cx="2697480" cy="2011680"/>
          </a:xfrm>
          <a:prstGeom prst="roundRect">
            <a:avLst>
              <a:gd name="adj" fmla="val 4545"/>
            </a:avLst>
          </a:prstGeom>
          <a:solidFill>
            <a:srgbClr val="19A7CE"/>
          </a:solidFill>
          <a:ln/>
        </p:spPr>
      </p:sp>
      <p:sp>
        <p:nvSpPr>
          <p:cNvPr id="38" name="Shape 23"/>
          <p:cNvSpPr/>
          <p:nvPr/>
        </p:nvSpPr>
        <p:spPr>
          <a:xfrm>
            <a:off x="10126980" y="4251960"/>
            <a:ext cx="640080" cy="640080"/>
          </a:xfrm>
          <a:prstGeom prst="ellipse">
            <a:avLst/>
          </a:prstGeom>
          <a:solidFill>
            <a:srgbClr val="0F7FA3"/>
          </a:solidFill>
          <a:ln/>
        </p:spPr>
      </p:sp>
      <p:pic>
        <p:nvPicPr>
          <p:cNvPr id="39" name="Image 13" descr="/home/claude/deck/img/ic_chartline_w.png"/>
          <p:cNvPicPr>
            <a:picLocks noChangeAspect="1"/>
          </p:cNvPicPr>
          <p:nvPr/>
        </p:nvPicPr>
        <p:blipFill>
          <a:blip r:embed="rId11"/>
          <a:stretch>
            <a:fillRect/>
          </a:stretch>
        </p:blipFill>
        <p:spPr>
          <a:xfrm>
            <a:off x="10203790" y="4328770"/>
            <a:ext cx="486461" cy="486461"/>
          </a:xfrm>
          <a:prstGeom prst="rect">
            <a:avLst/>
          </a:prstGeom>
        </p:spPr>
      </p:pic>
      <p:sp>
        <p:nvSpPr>
          <p:cNvPr id="40" name="Text 24"/>
          <p:cNvSpPr/>
          <p:nvPr/>
        </p:nvSpPr>
        <p:spPr>
          <a:xfrm>
            <a:off x="9235440" y="5029200"/>
            <a:ext cx="2423160" cy="91440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Personalized Career Development</a:t>
            </a:r>
            <a:endParaRPr lang="en-US" sz="1250" dirty="0"/>
          </a:p>
        </p:txBody>
      </p:sp>
      <p:sp>
        <p:nvSpPr>
          <p:cNvPr id="42" name="Text 2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2600" b="1" dirty="0">
                <a:solidFill>
                  <a:srgbClr val="0B2447"/>
                </a:solidFill>
                <a:latin typeface="Cambria" pitchFamily="34" charset="0"/>
                <a:ea typeface="Cambria" pitchFamily="34" charset="-122"/>
                <a:cs typeface="Cambria" pitchFamily="34" charset="-120"/>
              </a:rPr>
              <a:t>From Student Profile to Career Direction</a:t>
            </a:r>
            <a:endParaRPr lang="en-US" sz="2600" dirty="0"/>
          </a:p>
        </p:txBody>
      </p:sp>
      <p:sp>
        <p:nvSpPr>
          <p:cNvPr id="3" name="Shape 1"/>
          <p:cNvSpPr/>
          <p:nvPr/>
        </p:nvSpPr>
        <p:spPr>
          <a:xfrm>
            <a:off x="548640" y="1234440"/>
            <a:ext cx="5669280" cy="384048"/>
          </a:xfrm>
          <a:prstGeom prst="roundRect">
            <a:avLst>
              <a:gd name="adj" fmla="val 50000"/>
            </a:avLst>
          </a:prstGeom>
          <a:solidFill>
            <a:srgbClr val="F97B22"/>
          </a:solidFill>
          <a:ln/>
        </p:spPr>
      </p:sp>
      <p:sp>
        <p:nvSpPr>
          <p:cNvPr id="4" name="Text 2"/>
          <p:cNvSpPr/>
          <p:nvPr/>
        </p:nvSpPr>
        <p:spPr>
          <a:xfrm>
            <a:off x="548640" y="1234440"/>
            <a:ext cx="5669280" cy="384048"/>
          </a:xfrm>
          <a:prstGeom prst="rect">
            <a:avLst/>
          </a:prstGeom>
          <a:noFill/>
          <a:ln/>
        </p:spPr>
        <p:txBody>
          <a:bodyPr wrap="square" rtlCol="0" anchor="ctr"/>
          <a:lstStyle/>
          <a:p>
            <a:pPr marL="0" indent="0" algn="ctr">
              <a:buNone/>
            </a:pPr>
            <a:r>
              <a:rPr lang="en-US" sz="1200" b="1" dirty="0" smtClean="0">
                <a:solidFill>
                  <a:srgbClr val="FFFFFF"/>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EXAMPLE — NOT A SURVEY RESULT</a:t>
            </a:r>
            <a:endParaRPr lang="en-US" sz="1200" dirty="0"/>
          </a:p>
        </p:txBody>
      </p:sp>
      <p:sp>
        <p:nvSpPr>
          <p:cNvPr id="5" name="Shape 3"/>
          <p:cNvSpPr/>
          <p:nvPr/>
        </p:nvSpPr>
        <p:spPr>
          <a:xfrm>
            <a:off x="548640" y="1920240"/>
            <a:ext cx="2697480" cy="4023360"/>
          </a:xfrm>
          <a:prstGeom prst="roundRect">
            <a:avLst>
              <a:gd name="adj" fmla="val 4068"/>
            </a:avLst>
          </a:prstGeom>
          <a:solidFill>
            <a:srgbClr val="0B2447"/>
          </a:solidFill>
          <a:ln/>
        </p:spPr>
      </p:sp>
      <p:sp>
        <p:nvSpPr>
          <p:cNvPr id="6" name="Text 4"/>
          <p:cNvSpPr/>
          <p:nvPr/>
        </p:nvSpPr>
        <p:spPr>
          <a:xfrm>
            <a:off x="685800" y="2148840"/>
            <a:ext cx="242316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Student Profile</a:t>
            </a:r>
            <a:endParaRPr lang="en-US" sz="1500" dirty="0"/>
          </a:p>
        </p:txBody>
      </p:sp>
      <p:sp>
        <p:nvSpPr>
          <p:cNvPr id="7" name="Text 5"/>
          <p:cNvSpPr/>
          <p:nvPr/>
        </p:nvSpPr>
        <p:spPr>
          <a:xfrm>
            <a:off x="731520" y="283464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BS Computer Science</a:t>
            </a:r>
            <a:endParaRPr lang="en-US" sz="1250" dirty="0"/>
          </a:p>
        </p:txBody>
      </p:sp>
      <p:sp>
        <p:nvSpPr>
          <p:cNvPr id="8" name="Text 6"/>
          <p:cNvSpPr/>
          <p:nvPr/>
        </p:nvSpPr>
        <p:spPr>
          <a:xfrm>
            <a:off x="731520" y="333756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Python: Strong</a:t>
            </a:r>
            <a:endParaRPr lang="en-US" sz="1250" dirty="0"/>
          </a:p>
        </p:txBody>
      </p:sp>
      <p:sp>
        <p:nvSpPr>
          <p:cNvPr id="9" name="Text 7"/>
          <p:cNvSpPr/>
          <p:nvPr/>
        </p:nvSpPr>
        <p:spPr>
          <a:xfrm>
            <a:off x="731520" y="384048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SQL: Moderate</a:t>
            </a:r>
            <a:endParaRPr lang="en-US" sz="1250" dirty="0"/>
          </a:p>
        </p:txBody>
      </p:sp>
      <p:sp>
        <p:nvSpPr>
          <p:cNvPr id="10" name="Text 8"/>
          <p:cNvSpPr/>
          <p:nvPr/>
        </p:nvSpPr>
        <p:spPr>
          <a:xfrm>
            <a:off x="731520" y="434340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AI/ML: Strong</a:t>
            </a:r>
            <a:endParaRPr lang="en-US" sz="1250" dirty="0"/>
          </a:p>
        </p:txBody>
      </p:sp>
      <p:sp>
        <p:nvSpPr>
          <p:cNvPr id="11" name="Text 9"/>
          <p:cNvSpPr/>
          <p:nvPr/>
        </p:nvSpPr>
        <p:spPr>
          <a:xfrm>
            <a:off x="731520" y="484632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Internship: 1</a:t>
            </a:r>
            <a:endParaRPr lang="en-US" sz="1250" dirty="0"/>
          </a:p>
        </p:txBody>
      </p:sp>
      <p:pic>
        <p:nvPicPr>
          <p:cNvPr id="12" name="Image 0" descr="/home/claude/deck/img/ic_arrow_navy.png"/>
          <p:cNvPicPr>
            <a:picLocks noChangeAspect="1"/>
          </p:cNvPicPr>
          <p:nvPr/>
        </p:nvPicPr>
        <p:blipFill>
          <a:blip r:embed="rId3"/>
          <a:stretch>
            <a:fillRect/>
          </a:stretch>
        </p:blipFill>
        <p:spPr>
          <a:xfrm>
            <a:off x="3264408" y="3749040"/>
            <a:ext cx="228600" cy="365760"/>
          </a:xfrm>
          <a:prstGeom prst="rect">
            <a:avLst/>
          </a:prstGeom>
        </p:spPr>
      </p:pic>
      <p:sp>
        <p:nvSpPr>
          <p:cNvPr id="13" name="Shape 10"/>
          <p:cNvSpPr/>
          <p:nvPr/>
        </p:nvSpPr>
        <p:spPr>
          <a:xfrm>
            <a:off x="3502152" y="1920240"/>
            <a:ext cx="2697480" cy="4023360"/>
          </a:xfrm>
          <a:prstGeom prst="roundRect">
            <a:avLst>
              <a:gd name="adj" fmla="val 4068"/>
            </a:avLst>
          </a:prstGeom>
          <a:solidFill>
            <a:srgbClr val="13315C"/>
          </a:solidFill>
          <a:ln/>
        </p:spPr>
      </p:sp>
      <p:sp>
        <p:nvSpPr>
          <p:cNvPr id="14" name="Text 11"/>
          <p:cNvSpPr/>
          <p:nvPr/>
        </p:nvSpPr>
        <p:spPr>
          <a:xfrm>
            <a:off x="3639312" y="2148840"/>
            <a:ext cx="242316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Recommended Careers</a:t>
            </a:r>
            <a:endParaRPr lang="en-US" sz="1500" dirty="0"/>
          </a:p>
        </p:txBody>
      </p:sp>
      <p:sp>
        <p:nvSpPr>
          <p:cNvPr id="15" name="Text 12"/>
          <p:cNvSpPr/>
          <p:nvPr/>
        </p:nvSpPr>
        <p:spPr>
          <a:xfrm>
            <a:off x="3685032" y="283464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Machine Learning Engineer</a:t>
            </a:r>
            <a:endParaRPr lang="en-US" sz="1250" dirty="0"/>
          </a:p>
        </p:txBody>
      </p:sp>
      <p:sp>
        <p:nvSpPr>
          <p:cNvPr id="16" name="Text 13"/>
          <p:cNvSpPr/>
          <p:nvPr/>
        </p:nvSpPr>
        <p:spPr>
          <a:xfrm>
            <a:off x="3685032" y="333756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Data Scientist</a:t>
            </a:r>
            <a:endParaRPr lang="en-US" sz="1250" dirty="0"/>
          </a:p>
        </p:txBody>
      </p:sp>
      <p:sp>
        <p:nvSpPr>
          <p:cNvPr id="17" name="Text 14"/>
          <p:cNvSpPr/>
          <p:nvPr/>
        </p:nvSpPr>
        <p:spPr>
          <a:xfrm>
            <a:off x="3685032" y="384048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AI Engineer</a:t>
            </a:r>
            <a:endParaRPr lang="en-US" sz="1250" dirty="0"/>
          </a:p>
        </p:txBody>
      </p:sp>
      <p:pic>
        <p:nvPicPr>
          <p:cNvPr id="18" name="Image 1" descr="/home/claude/deck/img/ic_arrow_navy.png"/>
          <p:cNvPicPr>
            <a:picLocks noChangeAspect="1"/>
          </p:cNvPicPr>
          <p:nvPr/>
        </p:nvPicPr>
        <p:blipFill>
          <a:blip r:embed="rId3"/>
          <a:stretch>
            <a:fillRect/>
          </a:stretch>
        </p:blipFill>
        <p:spPr>
          <a:xfrm>
            <a:off x="6217920" y="3749040"/>
            <a:ext cx="228600" cy="365760"/>
          </a:xfrm>
          <a:prstGeom prst="rect">
            <a:avLst/>
          </a:prstGeom>
        </p:spPr>
      </p:pic>
      <p:sp>
        <p:nvSpPr>
          <p:cNvPr id="19" name="Shape 15"/>
          <p:cNvSpPr/>
          <p:nvPr/>
        </p:nvSpPr>
        <p:spPr>
          <a:xfrm>
            <a:off x="6455664" y="1920240"/>
            <a:ext cx="2697480" cy="4023360"/>
          </a:xfrm>
          <a:prstGeom prst="roundRect">
            <a:avLst>
              <a:gd name="adj" fmla="val 4068"/>
            </a:avLst>
          </a:prstGeom>
          <a:solidFill>
            <a:srgbClr val="F97B22"/>
          </a:solidFill>
          <a:ln/>
        </p:spPr>
      </p:sp>
      <p:sp>
        <p:nvSpPr>
          <p:cNvPr id="20" name="Text 16"/>
          <p:cNvSpPr/>
          <p:nvPr/>
        </p:nvSpPr>
        <p:spPr>
          <a:xfrm>
            <a:off x="6592824" y="2148840"/>
            <a:ext cx="242316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Skill Gaps</a:t>
            </a:r>
            <a:endParaRPr lang="en-US" sz="1500" dirty="0"/>
          </a:p>
        </p:txBody>
      </p:sp>
      <p:sp>
        <p:nvSpPr>
          <p:cNvPr id="21" name="Text 17"/>
          <p:cNvSpPr/>
          <p:nvPr/>
        </p:nvSpPr>
        <p:spPr>
          <a:xfrm>
            <a:off x="6638544" y="283464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Statistics</a:t>
            </a:r>
            <a:endParaRPr lang="en-US" sz="1250" dirty="0"/>
          </a:p>
        </p:txBody>
      </p:sp>
      <p:sp>
        <p:nvSpPr>
          <p:cNvPr id="22" name="Text 18"/>
          <p:cNvSpPr/>
          <p:nvPr/>
        </p:nvSpPr>
        <p:spPr>
          <a:xfrm>
            <a:off x="6638544" y="333756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Deep Learning</a:t>
            </a:r>
            <a:endParaRPr lang="en-US" sz="1250" dirty="0"/>
          </a:p>
        </p:txBody>
      </p:sp>
      <p:sp>
        <p:nvSpPr>
          <p:cNvPr id="23" name="Text 19"/>
          <p:cNvSpPr/>
          <p:nvPr/>
        </p:nvSpPr>
        <p:spPr>
          <a:xfrm>
            <a:off x="6638544" y="384048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Docker</a:t>
            </a:r>
            <a:endParaRPr lang="en-US" sz="1250" dirty="0"/>
          </a:p>
        </p:txBody>
      </p:sp>
      <p:pic>
        <p:nvPicPr>
          <p:cNvPr id="24" name="Image 2" descr="/home/claude/deck/img/ic_arrow_navy.png"/>
          <p:cNvPicPr>
            <a:picLocks noChangeAspect="1"/>
          </p:cNvPicPr>
          <p:nvPr/>
        </p:nvPicPr>
        <p:blipFill>
          <a:blip r:embed="rId3"/>
          <a:stretch>
            <a:fillRect/>
          </a:stretch>
        </p:blipFill>
        <p:spPr>
          <a:xfrm>
            <a:off x="9171432" y="3749040"/>
            <a:ext cx="228600" cy="365760"/>
          </a:xfrm>
          <a:prstGeom prst="rect">
            <a:avLst/>
          </a:prstGeom>
        </p:spPr>
      </p:pic>
      <p:sp>
        <p:nvSpPr>
          <p:cNvPr id="25" name="Shape 20"/>
          <p:cNvSpPr/>
          <p:nvPr/>
        </p:nvSpPr>
        <p:spPr>
          <a:xfrm>
            <a:off x="9409176" y="1920240"/>
            <a:ext cx="2697480" cy="4023360"/>
          </a:xfrm>
          <a:prstGeom prst="roundRect">
            <a:avLst>
              <a:gd name="adj" fmla="val 4068"/>
            </a:avLst>
          </a:prstGeom>
          <a:solidFill>
            <a:srgbClr val="19A7CE"/>
          </a:solidFill>
          <a:ln/>
        </p:spPr>
      </p:sp>
      <p:sp>
        <p:nvSpPr>
          <p:cNvPr id="26" name="Text 21"/>
          <p:cNvSpPr/>
          <p:nvPr/>
        </p:nvSpPr>
        <p:spPr>
          <a:xfrm>
            <a:off x="9546336" y="2148840"/>
            <a:ext cx="2423160" cy="5486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Next Step</a:t>
            </a:r>
            <a:endParaRPr lang="en-US" sz="1500" dirty="0"/>
          </a:p>
        </p:txBody>
      </p:sp>
      <p:sp>
        <p:nvSpPr>
          <p:cNvPr id="27" name="Text 22"/>
          <p:cNvSpPr/>
          <p:nvPr/>
        </p:nvSpPr>
        <p:spPr>
          <a:xfrm>
            <a:off x="9592056" y="2834640"/>
            <a:ext cx="2331720" cy="457200"/>
          </a:xfrm>
          <a:prstGeom prst="rect">
            <a:avLst/>
          </a:prstGeom>
          <a:noFill/>
          <a:ln/>
        </p:spPr>
        <p:txBody>
          <a:bodyPr wrap="square" rtlCol="0" anchor="t"/>
          <a:lstStyle/>
          <a:p>
            <a:pPr marL="0" indent="0">
              <a:buNone/>
            </a:pPr>
            <a:r>
              <a:rPr lang="en-US" sz="1250" dirty="0">
                <a:solidFill>
                  <a:srgbClr val="E8F1F5"/>
                </a:solidFill>
                <a:latin typeface="Calibri" pitchFamily="34" charset="0"/>
                <a:ea typeface="Calibri" pitchFamily="34" charset="-122"/>
                <a:cs typeface="Calibri" pitchFamily="34" charset="-120"/>
              </a:rPr>
              <a:t>•  Personalized learning roadmap</a:t>
            </a:r>
            <a:endParaRPr lang="en-US" sz="1250" dirty="0"/>
          </a:p>
        </p:txBody>
      </p:sp>
      <p:sp>
        <p:nvSpPr>
          <p:cNvPr id="29"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000" b="1" dirty="0">
                <a:solidFill>
                  <a:srgbClr val="0B2447"/>
                </a:solidFill>
                <a:latin typeface="Cambria" pitchFamily="34" charset="0"/>
                <a:ea typeface="Cambria" pitchFamily="34" charset="-122"/>
                <a:cs typeface="Cambria" pitchFamily="34" charset="-120"/>
              </a:rPr>
              <a:t>Our Value Proposition</a:t>
            </a:r>
            <a:endParaRPr lang="en-US" sz="3000" dirty="0"/>
          </a:p>
        </p:txBody>
      </p:sp>
      <p:sp>
        <p:nvSpPr>
          <p:cNvPr id="3" name="Shape 1"/>
          <p:cNvSpPr/>
          <p:nvPr/>
        </p:nvSpPr>
        <p:spPr>
          <a:xfrm>
            <a:off x="548640" y="1600200"/>
            <a:ext cx="2697480" cy="1965960"/>
          </a:xfrm>
          <a:prstGeom prst="roundRect">
            <a:avLst>
              <a:gd name="adj" fmla="val 5581"/>
            </a:avLst>
          </a:prstGeom>
          <a:solidFill>
            <a:srgbClr val="19A7CE"/>
          </a:solidFill>
          <a:ln/>
        </p:spPr>
      </p:sp>
      <p:sp>
        <p:nvSpPr>
          <p:cNvPr id="4" name="Text 2"/>
          <p:cNvSpPr/>
          <p:nvPr/>
        </p:nvSpPr>
        <p:spPr>
          <a:xfrm>
            <a:off x="731520" y="1783080"/>
            <a:ext cx="2331720" cy="365760"/>
          </a:xfrm>
          <a:prstGeom prst="rect">
            <a:avLst/>
          </a:prstGeom>
          <a:noFill/>
          <a:ln/>
        </p:spPr>
        <p:txBody>
          <a:bodyPr wrap="square" rtlCol="0" anchor="ctr"/>
          <a:lstStyle/>
          <a:p>
            <a:pPr marL="0" indent="0">
              <a:buNone/>
            </a:pPr>
            <a:r>
              <a:rPr lang="en-US" sz="1300" b="1" dirty="0">
                <a:solidFill>
                  <a:srgbClr val="E8F1F5"/>
                </a:solidFill>
                <a:latin typeface="Calibri" pitchFamily="34" charset="0"/>
                <a:ea typeface="Calibri" pitchFamily="34" charset="-122"/>
                <a:cs typeface="Calibri" pitchFamily="34" charset="-120"/>
              </a:rPr>
              <a:t>For</a:t>
            </a:r>
            <a:endParaRPr lang="en-US" sz="1300" dirty="0"/>
          </a:p>
        </p:txBody>
      </p:sp>
      <p:sp>
        <p:nvSpPr>
          <p:cNvPr id="5" name="Text 3"/>
          <p:cNvSpPr/>
          <p:nvPr/>
        </p:nvSpPr>
        <p:spPr>
          <a:xfrm>
            <a:off x="731520" y="2194560"/>
            <a:ext cx="2331720" cy="1234440"/>
          </a:xfrm>
          <a:prstGeom prst="rect">
            <a:avLst/>
          </a:prstGeom>
          <a:noFill/>
          <a:ln/>
        </p:spPr>
        <p:txBody>
          <a:bodyPr wrap="square" rtlCol="0" anchor="t"/>
          <a:lstStyle/>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University students &amp;</a:t>
            </a:r>
            <a:endParaRPr lang="en-US" sz="1500" dirty="0"/>
          </a:p>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fresh graduates</a:t>
            </a:r>
            <a:endParaRPr lang="en-US" sz="1500" dirty="0"/>
          </a:p>
        </p:txBody>
      </p:sp>
      <p:sp>
        <p:nvSpPr>
          <p:cNvPr id="6" name="Shape 4"/>
          <p:cNvSpPr/>
          <p:nvPr/>
        </p:nvSpPr>
        <p:spPr>
          <a:xfrm>
            <a:off x="3429000" y="1600200"/>
            <a:ext cx="2697480" cy="1965960"/>
          </a:xfrm>
          <a:prstGeom prst="roundRect">
            <a:avLst>
              <a:gd name="adj" fmla="val 5581"/>
            </a:avLst>
          </a:prstGeom>
          <a:solidFill>
            <a:srgbClr val="0B2447"/>
          </a:solidFill>
          <a:ln/>
        </p:spPr>
      </p:sp>
      <p:sp>
        <p:nvSpPr>
          <p:cNvPr id="7" name="Text 5"/>
          <p:cNvSpPr/>
          <p:nvPr/>
        </p:nvSpPr>
        <p:spPr>
          <a:xfrm>
            <a:off x="3611880" y="1783080"/>
            <a:ext cx="2331720" cy="365760"/>
          </a:xfrm>
          <a:prstGeom prst="rect">
            <a:avLst/>
          </a:prstGeom>
          <a:noFill/>
          <a:ln/>
        </p:spPr>
        <p:txBody>
          <a:bodyPr wrap="square" rtlCol="0" anchor="ctr"/>
          <a:lstStyle/>
          <a:p>
            <a:pPr marL="0" indent="0">
              <a:buNone/>
            </a:pPr>
            <a:r>
              <a:rPr lang="en-US" sz="1300" b="1" dirty="0">
                <a:solidFill>
                  <a:srgbClr val="E8F1F5"/>
                </a:solidFill>
                <a:latin typeface="Calibri" pitchFamily="34" charset="0"/>
                <a:ea typeface="Calibri" pitchFamily="34" charset="-122"/>
                <a:cs typeface="Calibri" pitchFamily="34" charset="-120"/>
              </a:rPr>
              <a:t>Who</a:t>
            </a:r>
            <a:endParaRPr lang="en-US" sz="1300" dirty="0"/>
          </a:p>
        </p:txBody>
      </p:sp>
      <p:sp>
        <p:nvSpPr>
          <p:cNvPr id="8" name="Text 6"/>
          <p:cNvSpPr/>
          <p:nvPr/>
        </p:nvSpPr>
        <p:spPr>
          <a:xfrm>
            <a:off x="3611880" y="2194560"/>
            <a:ext cx="2331720" cy="1234440"/>
          </a:xfrm>
          <a:prstGeom prst="rect">
            <a:avLst/>
          </a:prstGeom>
          <a:noFill/>
          <a:ln/>
        </p:spPr>
        <p:txBody>
          <a:bodyPr wrap="square" rtlCol="0" anchor="t"/>
          <a:lstStyle/>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Are uncertain about career</a:t>
            </a:r>
            <a:endParaRPr lang="en-US" sz="1500" dirty="0"/>
          </a:p>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direction and skill requirements</a:t>
            </a:r>
            <a:endParaRPr lang="en-US" sz="1500" dirty="0"/>
          </a:p>
        </p:txBody>
      </p:sp>
      <p:sp>
        <p:nvSpPr>
          <p:cNvPr id="9" name="Shape 7"/>
          <p:cNvSpPr/>
          <p:nvPr/>
        </p:nvSpPr>
        <p:spPr>
          <a:xfrm>
            <a:off x="548640" y="3749040"/>
            <a:ext cx="2697480" cy="1965960"/>
          </a:xfrm>
          <a:prstGeom prst="roundRect">
            <a:avLst>
              <a:gd name="adj" fmla="val 5581"/>
            </a:avLst>
          </a:prstGeom>
          <a:solidFill>
            <a:srgbClr val="F97B22"/>
          </a:solidFill>
          <a:ln/>
        </p:spPr>
      </p:sp>
      <p:sp>
        <p:nvSpPr>
          <p:cNvPr id="10" name="Text 8"/>
          <p:cNvSpPr/>
          <p:nvPr/>
        </p:nvSpPr>
        <p:spPr>
          <a:xfrm>
            <a:off x="731520" y="3931920"/>
            <a:ext cx="2331720" cy="365760"/>
          </a:xfrm>
          <a:prstGeom prst="rect">
            <a:avLst/>
          </a:prstGeom>
          <a:noFill/>
          <a:ln/>
        </p:spPr>
        <p:txBody>
          <a:bodyPr wrap="square" rtlCol="0" anchor="ctr"/>
          <a:lstStyle/>
          <a:p>
            <a:pPr marL="0" indent="0">
              <a:buNone/>
            </a:pPr>
            <a:r>
              <a:rPr lang="en-US" sz="1300" b="1" dirty="0">
                <a:solidFill>
                  <a:srgbClr val="E8F1F5"/>
                </a:solidFill>
                <a:latin typeface="Calibri" pitchFamily="34" charset="0"/>
                <a:ea typeface="Calibri" pitchFamily="34" charset="-122"/>
                <a:cs typeface="Calibri" pitchFamily="34" charset="-120"/>
              </a:rPr>
              <a:t>SkillBridge</a:t>
            </a:r>
            <a:endParaRPr lang="en-US" sz="1300" dirty="0"/>
          </a:p>
        </p:txBody>
      </p:sp>
      <p:sp>
        <p:nvSpPr>
          <p:cNvPr id="11" name="Text 9"/>
          <p:cNvSpPr/>
          <p:nvPr/>
        </p:nvSpPr>
        <p:spPr>
          <a:xfrm>
            <a:off x="731520" y="4343400"/>
            <a:ext cx="2331720" cy="1234440"/>
          </a:xfrm>
          <a:prstGeom prst="rect">
            <a:avLst/>
          </a:prstGeom>
          <a:noFill/>
          <a:ln/>
        </p:spPr>
        <p:txBody>
          <a:bodyPr wrap="square" rtlCol="0" anchor="t"/>
          <a:lstStyle/>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Connects student profiles with</a:t>
            </a:r>
            <a:endParaRPr lang="en-US" sz="1500" dirty="0"/>
          </a:p>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career &amp; job-market requirements</a:t>
            </a:r>
            <a:endParaRPr lang="en-US" sz="1500" dirty="0"/>
          </a:p>
        </p:txBody>
      </p:sp>
      <p:sp>
        <p:nvSpPr>
          <p:cNvPr id="12" name="Shape 10"/>
          <p:cNvSpPr/>
          <p:nvPr/>
        </p:nvSpPr>
        <p:spPr>
          <a:xfrm>
            <a:off x="3429000" y="3749040"/>
            <a:ext cx="2697480" cy="1965960"/>
          </a:xfrm>
          <a:prstGeom prst="roundRect">
            <a:avLst>
              <a:gd name="adj" fmla="val 5581"/>
            </a:avLst>
          </a:prstGeom>
          <a:solidFill>
            <a:srgbClr val="13315C"/>
          </a:solidFill>
          <a:ln/>
        </p:spPr>
      </p:sp>
      <p:sp>
        <p:nvSpPr>
          <p:cNvPr id="13" name="Text 11"/>
          <p:cNvSpPr/>
          <p:nvPr/>
        </p:nvSpPr>
        <p:spPr>
          <a:xfrm>
            <a:off x="3611880" y="3931920"/>
            <a:ext cx="2331720" cy="365760"/>
          </a:xfrm>
          <a:prstGeom prst="rect">
            <a:avLst/>
          </a:prstGeom>
          <a:noFill/>
          <a:ln/>
        </p:spPr>
        <p:txBody>
          <a:bodyPr wrap="square" rtlCol="0" anchor="ctr"/>
          <a:lstStyle/>
          <a:p>
            <a:pPr marL="0" indent="0">
              <a:buNone/>
            </a:pPr>
            <a:r>
              <a:rPr lang="en-US" sz="1300" b="1" dirty="0">
                <a:solidFill>
                  <a:srgbClr val="E8F1F5"/>
                </a:solidFill>
                <a:latin typeface="Calibri" pitchFamily="34" charset="0"/>
                <a:ea typeface="Calibri" pitchFamily="34" charset="-122"/>
                <a:cs typeface="Calibri" pitchFamily="34" charset="-120"/>
              </a:rPr>
              <a:t>So They Can</a:t>
            </a:r>
            <a:endParaRPr lang="en-US" sz="1300" dirty="0"/>
          </a:p>
        </p:txBody>
      </p:sp>
      <p:sp>
        <p:nvSpPr>
          <p:cNvPr id="14" name="Text 12"/>
          <p:cNvSpPr/>
          <p:nvPr/>
        </p:nvSpPr>
        <p:spPr>
          <a:xfrm>
            <a:off x="3611880" y="4343400"/>
            <a:ext cx="2331720" cy="1234440"/>
          </a:xfrm>
          <a:prstGeom prst="rect">
            <a:avLst/>
          </a:prstGeom>
          <a:noFill/>
          <a:ln/>
        </p:spPr>
        <p:txBody>
          <a:bodyPr wrap="square" rtlCol="0" anchor="t"/>
          <a:lstStyle/>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Understand suitable careers,</a:t>
            </a:r>
            <a:endParaRPr lang="en-US" sz="1500" dirty="0"/>
          </a:p>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identify skill gaps, and plan</a:t>
            </a:r>
            <a:endParaRPr lang="en-US" sz="1500" dirty="0"/>
          </a:p>
          <a:p>
            <a:pPr marL="0" indent="0">
              <a:lnSpc>
                <a:spcPts val="1900"/>
              </a:lnSpc>
              <a:buNone/>
            </a:pPr>
            <a:r>
              <a:rPr lang="en-US" sz="1500" dirty="0">
                <a:solidFill>
                  <a:srgbClr val="FFFFFF"/>
                </a:solidFill>
                <a:latin typeface="Cambria" pitchFamily="34" charset="0"/>
                <a:ea typeface="Cambria" pitchFamily="34" charset="-122"/>
                <a:cs typeface="Cambria" pitchFamily="34" charset="-120"/>
              </a:rPr>
              <a:t>their next steps</a:t>
            </a:r>
            <a:endParaRPr lang="en-US" sz="1500" dirty="0"/>
          </a:p>
        </p:txBody>
      </p:sp>
      <p:sp>
        <p:nvSpPr>
          <p:cNvPr id="15" name="Text 13"/>
          <p:cNvSpPr/>
          <p:nvPr/>
        </p:nvSpPr>
        <p:spPr>
          <a:xfrm>
            <a:off x="6720840" y="1600200"/>
            <a:ext cx="4937760" cy="365760"/>
          </a:xfrm>
          <a:prstGeom prst="rect">
            <a:avLst/>
          </a:prstGeom>
          <a:noFill/>
          <a:ln/>
        </p:spPr>
        <p:txBody>
          <a:bodyPr wrap="square" rtlCol="0" anchor="ctr"/>
          <a:lstStyle/>
          <a:p>
            <a:pPr marL="0" indent="0">
              <a:buNone/>
            </a:pPr>
            <a:r>
              <a:rPr lang="en-US" sz="1400" b="1" dirty="0">
                <a:solidFill>
                  <a:srgbClr val="0B2447"/>
                </a:solidFill>
                <a:latin typeface="Calibri" pitchFamily="34" charset="0"/>
                <a:ea typeface="Calibri" pitchFamily="34" charset="-122"/>
                <a:cs typeface="Calibri" pitchFamily="34" charset="-120"/>
              </a:rPr>
              <a:t>Key Benefits</a:t>
            </a:r>
            <a:endParaRPr lang="en-US" sz="1400" dirty="0"/>
          </a:p>
        </p:txBody>
      </p:sp>
      <p:sp>
        <p:nvSpPr>
          <p:cNvPr id="16" name="Shape 14"/>
          <p:cNvSpPr/>
          <p:nvPr/>
        </p:nvSpPr>
        <p:spPr>
          <a:xfrm>
            <a:off x="6720840" y="2103120"/>
            <a:ext cx="502920" cy="502920"/>
          </a:xfrm>
          <a:prstGeom prst="ellipse">
            <a:avLst/>
          </a:prstGeom>
          <a:solidFill>
            <a:srgbClr val="0B2447"/>
          </a:solidFill>
          <a:ln/>
        </p:spPr>
      </p:sp>
      <p:pic>
        <p:nvPicPr>
          <p:cNvPr id="17" name="Image 0" descr="/home/claude/deck/img/ic_bullseye_w.png"/>
          <p:cNvPicPr>
            <a:picLocks noChangeAspect="1"/>
          </p:cNvPicPr>
          <p:nvPr/>
        </p:nvPicPr>
        <p:blipFill>
          <a:blip r:embed="rId3"/>
          <a:stretch>
            <a:fillRect/>
          </a:stretch>
        </p:blipFill>
        <p:spPr>
          <a:xfrm>
            <a:off x="6781190" y="2163470"/>
            <a:ext cx="382219" cy="382219"/>
          </a:xfrm>
          <a:prstGeom prst="rect">
            <a:avLst/>
          </a:prstGeom>
        </p:spPr>
      </p:pic>
      <p:sp>
        <p:nvSpPr>
          <p:cNvPr id="18" name="Text 15"/>
          <p:cNvSpPr/>
          <p:nvPr/>
        </p:nvSpPr>
        <p:spPr>
          <a:xfrm>
            <a:off x="7360920" y="2121408"/>
            <a:ext cx="4114800" cy="45720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Personalized</a:t>
            </a:r>
            <a:endParaRPr lang="en-US" sz="1500" dirty="0"/>
          </a:p>
        </p:txBody>
      </p:sp>
      <p:sp>
        <p:nvSpPr>
          <p:cNvPr id="19" name="Shape 16"/>
          <p:cNvSpPr/>
          <p:nvPr/>
        </p:nvSpPr>
        <p:spPr>
          <a:xfrm>
            <a:off x="6720840" y="2761488"/>
            <a:ext cx="502920" cy="502920"/>
          </a:xfrm>
          <a:prstGeom prst="ellipse">
            <a:avLst/>
          </a:prstGeom>
          <a:solidFill>
            <a:srgbClr val="0B2447"/>
          </a:solidFill>
          <a:ln/>
        </p:spPr>
      </p:sp>
      <p:pic>
        <p:nvPicPr>
          <p:cNvPr id="20" name="Image 1" descr="/home/claude/deck/img/ic_chartline_w.png"/>
          <p:cNvPicPr>
            <a:picLocks noChangeAspect="1"/>
          </p:cNvPicPr>
          <p:nvPr/>
        </p:nvPicPr>
        <p:blipFill>
          <a:blip r:embed="rId4"/>
          <a:stretch>
            <a:fillRect/>
          </a:stretch>
        </p:blipFill>
        <p:spPr>
          <a:xfrm>
            <a:off x="6781190" y="2821838"/>
            <a:ext cx="382219" cy="382219"/>
          </a:xfrm>
          <a:prstGeom prst="rect">
            <a:avLst/>
          </a:prstGeom>
        </p:spPr>
      </p:pic>
      <p:sp>
        <p:nvSpPr>
          <p:cNvPr id="21" name="Text 17"/>
          <p:cNvSpPr/>
          <p:nvPr/>
        </p:nvSpPr>
        <p:spPr>
          <a:xfrm>
            <a:off x="7360920" y="2779776"/>
            <a:ext cx="4114800" cy="45720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Data-driven</a:t>
            </a:r>
            <a:endParaRPr lang="en-US" sz="1500" dirty="0"/>
          </a:p>
        </p:txBody>
      </p:sp>
      <p:sp>
        <p:nvSpPr>
          <p:cNvPr id="22" name="Shape 18"/>
          <p:cNvSpPr/>
          <p:nvPr/>
        </p:nvSpPr>
        <p:spPr>
          <a:xfrm>
            <a:off x="6720840" y="3419856"/>
            <a:ext cx="502920" cy="502920"/>
          </a:xfrm>
          <a:prstGeom prst="ellipse">
            <a:avLst/>
          </a:prstGeom>
          <a:solidFill>
            <a:srgbClr val="0B2447"/>
          </a:solidFill>
          <a:ln/>
        </p:spPr>
      </p:sp>
      <p:pic>
        <p:nvPicPr>
          <p:cNvPr id="23" name="Image 2" descr="/home/claude/deck/img/ic_compass_w.png"/>
          <p:cNvPicPr>
            <a:picLocks noChangeAspect="1"/>
          </p:cNvPicPr>
          <p:nvPr/>
        </p:nvPicPr>
        <p:blipFill>
          <a:blip r:embed="rId5"/>
          <a:stretch>
            <a:fillRect/>
          </a:stretch>
        </p:blipFill>
        <p:spPr>
          <a:xfrm>
            <a:off x="6781190" y="3480206"/>
            <a:ext cx="382219" cy="382219"/>
          </a:xfrm>
          <a:prstGeom prst="rect">
            <a:avLst/>
          </a:prstGeom>
        </p:spPr>
      </p:pic>
      <p:sp>
        <p:nvSpPr>
          <p:cNvPr id="24" name="Text 19"/>
          <p:cNvSpPr/>
          <p:nvPr/>
        </p:nvSpPr>
        <p:spPr>
          <a:xfrm>
            <a:off x="7360920" y="3438144"/>
            <a:ext cx="4114800" cy="45720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Career-focused</a:t>
            </a:r>
            <a:endParaRPr lang="en-US" sz="1500" dirty="0"/>
          </a:p>
        </p:txBody>
      </p:sp>
      <p:sp>
        <p:nvSpPr>
          <p:cNvPr id="25" name="Shape 20"/>
          <p:cNvSpPr/>
          <p:nvPr/>
        </p:nvSpPr>
        <p:spPr>
          <a:xfrm>
            <a:off x="6720840" y="4078224"/>
            <a:ext cx="502920" cy="502920"/>
          </a:xfrm>
          <a:prstGeom prst="ellipse">
            <a:avLst/>
          </a:prstGeom>
          <a:solidFill>
            <a:srgbClr val="0B2447"/>
          </a:solidFill>
          <a:ln/>
        </p:spPr>
      </p:sp>
      <p:pic>
        <p:nvPicPr>
          <p:cNvPr id="26" name="Image 3" descr="/home/claude/deck/img/ic_listcheck_w.png"/>
          <p:cNvPicPr>
            <a:picLocks noChangeAspect="1"/>
          </p:cNvPicPr>
          <p:nvPr/>
        </p:nvPicPr>
        <p:blipFill>
          <a:blip r:embed="rId6"/>
          <a:stretch>
            <a:fillRect/>
          </a:stretch>
        </p:blipFill>
        <p:spPr>
          <a:xfrm>
            <a:off x="6781190" y="4138574"/>
            <a:ext cx="382219" cy="382219"/>
          </a:xfrm>
          <a:prstGeom prst="rect">
            <a:avLst/>
          </a:prstGeom>
        </p:spPr>
      </p:pic>
      <p:sp>
        <p:nvSpPr>
          <p:cNvPr id="27" name="Text 21"/>
          <p:cNvSpPr/>
          <p:nvPr/>
        </p:nvSpPr>
        <p:spPr>
          <a:xfrm>
            <a:off x="7360920" y="4096512"/>
            <a:ext cx="4114800" cy="457200"/>
          </a:xfrm>
          <a:prstGeom prst="rect">
            <a:avLst/>
          </a:prstGeom>
          <a:noFill/>
          <a:ln/>
        </p:spPr>
        <p:txBody>
          <a:bodyPr wrap="square" rtlCol="0" anchor="ctr"/>
          <a:lstStyle/>
          <a:p>
            <a:pPr marL="0" indent="0">
              <a:buNone/>
            </a:pPr>
            <a:r>
              <a:rPr lang="en-US" sz="1500" dirty="0">
                <a:solidFill>
                  <a:srgbClr val="0B2447"/>
                </a:solidFill>
                <a:latin typeface="Calibri" pitchFamily="34" charset="0"/>
                <a:ea typeface="Calibri" pitchFamily="34" charset="-122"/>
                <a:cs typeface="Calibri" pitchFamily="34" charset="-120"/>
              </a:rPr>
              <a:t>Action-oriented</a:t>
            </a:r>
            <a:endParaRPr lang="en-US" sz="1500" dirty="0"/>
          </a:p>
        </p:txBody>
      </p:sp>
      <p:sp>
        <p:nvSpPr>
          <p:cNvPr id="29"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C72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B244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3315C"/>
          </a:solidFill>
          <a:ln/>
        </p:spPr>
      </p:sp>
      <p:sp>
        <p:nvSpPr>
          <p:cNvPr id="3" name="Text 1"/>
          <p:cNvSpPr/>
          <p:nvPr/>
        </p:nvSpPr>
        <p:spPr>
          <a:xfrm>
            <a:off x="548640" y="411480"/>
            <a:ext cx="11091672" cy="64008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From Career Recommendation to Career Intelligence</a:t>
            </a:r>
            <a:endParaRPr lang="en-US" sz="2400" dirty="0"/>
          </a:p>
        </p:txBody>
      </p:sp>
      <p:sp>
        <p:nvSpPr>
          <p:cNvPr id="4" name="Shape 2"/>
          <p:cNvSpPr/>
          <p:nvPr/>
        </p:nvSpPr>
        <p:spPr>
          <a:xfrm>
            <a:off x="548640" y="1417320"/>
            <a:ext cx="1783080" cy="1188720"/>
          </a:xfrm>
          <a:prstGeom prst="roundRect">
            <a:avLst>
              <a:gd name="adj" fmla="val 7692"/>
            </a:avLst>
          </a:prstGeom>
          <a:solidFill>
            <a:srgbClr val="19A7CE"/>
          </a:solidFill>
          <a:ln/>
        </p:spPr>
      </p:sp>
      <p:sp>
        <p:nvSpPr>
          <p:cNvPr id="5" name="Text 3"/>
          <p:cNvSpPr/>
          <p:nvPr/>
        </p:nvSpPr>
        <p:spPr>
          <a:xfrm>
            <a:off x="621792" y="1417320"/>
            <a:ext cx="1636776" cy="11887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Career</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Recommendation</a:t>
            </a:r>
            <a:endParaRPr lang="en-US" sz="1150" dirty="0"/>
          </a:p>
        </p:txBody>
      </p:sp>
      <p:pic>
        <p:nvPicPr>
          <p:cNvPr id="6" name="Image 0" descr="/home/claude/deck/img/ic_arrow_w.png"/>
          <p:cNvPicPr>
            <a:picLocks noChangeAspect="1"/>
          </p:cNvPicPr>
          <p:nvPr/>
        </p:nvPicPr>
        <p:blipFill>
          <a:blip r:embed="rId3"/>
          <a:stretch>
            <a:fillRect/>
          </a:stretch>
        </p:blipFill>
        <p:spPr>
          <a:xfrm>
            <a:off x="2336292" y="1901952"/>
            <a:ext cx="219456" cy="219456"/>
          </a:xfrm>
          <a:prstGeom prst="rect">
            <a:avLst/>
          </a:prstGeom>
        </p:spPr>
      </p:pic>
      <p:sp>
        <p:nvSpPr>
          <p:cNvPr id="7" name="Shape 4"/>
          <p:cNvSpPr/>
          <p:nvPr/>
        </p:nvSpPr>
        <p:spPr>
          <a:xfrm>
            <a:off x="2468880" y="1417320"/>
            <a:ext cx="1783080" cy="1188720"/>
          </a:xfrm>
          <a:prstGeom prst="roundRect">
            <a:avLst>
              <a:gd name="adj" fmla="val 7692"/>
            </a:avLst>
          </a:prstGeom>
          <a:solidFill>
            <a:srgbClr val="13315C"/>
          </a:solidFill>
          <a:ln/>
        </p:spPr>
      </p:sp>
      <p:sp>
        <p:nvSpPr>
          <p:cNvPr id="8" name="Text 5"/>
          <p:cNvSpPr/>
          <p:nvPr/>
        </p:nvSpPr>
        <p:spPr>
          <a:xfrm>
            <a:off x="2542032" y="1417320"/>
            <a:ext cx="1636776" cy="11887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Skill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Gap</a:t>
            </a:r>
            <a:endParaRPr lang="en-US" sz="1150" dirty="0"/>
          </a:p>
        </p:txBody>
      </p:sp>
      <p:pic>
        <p:nvPicPr>
          <p:cNvPr id="9" name="Image 1" descr="/home/claude/deck/img/ic_arrow_w.png"/>
          <p:cNvPicPr>
            <a:picLocks noChangeAspect="1"/>
          </p:cNvPicPr>
          <p:nvPr/>
        </p:nvPicPr>
        <p:blipFill>
          <a:blip r:embed="rId3"/>
          <a:stretch>
            <a:fillRect/>
          </a:stretch>
        </p:blipFill>
        <p:spPr>
          <a:xfrm>
            <a:off x="4256532" y="1901952"/>
            <a:ext cx="219456" cy="219456"/>
          </a:xfrm>
          <a:prstGeom prst="rect">
            <a:avLst/>
          </a:prstGeom>
        </p:spPr>
      </p:pic>
      <p:sp>
        <p:nvSpPr>
          <p:cNvPr id="10" name="Shape 6"/>
          <p:cNvSpPr/>
          <p:nvPr/>
        </p:nvSpPr>
        <p:spPr>
          <a:xfrm>
            <a:off x="4389120" y="1417320"/>
            <a:ext cx="1783080" cy="1188720"/>
          </a:xfrm>
          <a:prstGeom prst="roundRect">
            <a:avLst>
              <a:gd name="adj" fmla="val 7692"/>
            </a:avLst>
          </a:prstGeom>
          <a:solidFill>
            <a:srgbClr val="13315C"/>
          </a:solidFill>
          <a:ln/>
        </p:spPr>
      </p:sp>
      <p:sp>
        <p:nvSpPr>
          <p:cNvPr id="11" name="Text 7"/>
          <p:cNvSpPr/>
          <p:nvPr/>
        </p:nvSpPr>
        <p:spPr>
          <a:xfrm>
            <a:off x="4462272" y="1417320"/>
            <a:ext cx="1636776" cy="11887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Learning</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Roadmap</a:t>
            </a:r>
            <a:endParaRPr lang="en-US" sz="1150" dirty="0"/>
          </a:p>
        </p:txBody>
      </p:sp>
      <p:pic>
        <p:nvPicPr>
          <p:cNvPr id="12" name="Image 2" descr="/home/claude/deck/img/ic_arrow_w.png"/>
          <p:cNvPicPr>
            <a:picLocks noChangeAspect="1"/>
          </p:cNvPicPr>
          <p:nvPr/>
        </p:nvPicPr>
        <p:blipFill>
          <a:blip r:embed="rId3"/>
          <a:stretch>
            <a:fillRect/>
          </a:stretch>
        </p:blipFill>
        <p:spPr>
          <a:xfrm>
            <a:off x="6176772" y="1901952"/>
            <a:ext cx="219456" cy="219456"/>
          </a:xfrm>
          <a:prstGeom prst="rect">
            <a:avLst/>
          </a:prstGeom>
        </p:spPr>
      </p:pic>
      <p:sp>
        <p:nvSpPr>
          <p:cNvPr id="13" name="Shape 8"/>
          <p:cNvSpPr/>
          <p:nvPr/>
        </p:nvSpPr>
        <p:spPr>
          <a:xfrm>
            <a:off x="6309360" y="1417320"/>
            <a:ext cx="1783080" cy="1188720"/>
          </a:xfrm>
          <a:prstGeom prst="roundRect">
            <a:avLst>
              <a:gd name="adj" fmla="val 7692"/>
            </a:avLst>
          </a:prstGeom>
          <a:solidFill>
            <a:srgbClr val="13315C"/>
          </a:solidFill>
          <a:ln/>
        </p:spPr>
      </p:sp>
      <p:sp>
        <p:nvSpPr>
          <p:cNvPr id="14" name="Text 9"/>
          <p:cNvSpPr/>
          <p:nvPr/>
        </p:nvSpPr>
        <p:spPr>
          <a:xfrm>
            <a:off x="6382512" y="1417320"/>
            <a:ext cx="1636776" cy="11887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AI Career</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Assistant</a:t>
            </a:r>
            <a:endParaRPr lang="en-US" sz="1150" dirty="0"/>
          </a:p>
        </p:txBody>
      </p:sp>
      <p:pic>
        <p:nvPicPr>
          <p:cNvPr id="15" name="Image 3" descr="/home/claude/deck/img/ic_arrow_w.png"/>
          <p:cNvPicPr>
            <a:picLocks noChangeAspect="1"/>
          </p:cNvPicPr>
          <p:nvPr/>
        </p:nvPicPr>
        <p:blipFill>
          <a:blip r:embed="rId3"/>
          <a:stretch>
            <a:fillRect/>
          </a:stretch>
        </p:blipFill>
        <p:spPr>
          <a:xfrm>
            <a:off x="8097012" y="1901952"/>
            <a:ext cx="219456" cy="219456"/>
          </a:xfrm>
          <a:prstGeom prst="rect">
            <a:avLst/>
          </a:prstGeom>
        </p:spPr>
      </p:pic>
      <p:sp>
        <p:nvSpPr>
          <p:cNvPr id="16" name="Shape 10"/>
          <p:cNvSpPr/>
          <p:nvPr/>
        </p:nvSpPr>
        <p:spPr>
          <a:xfrm>
            <a:off x="8229600" y="1417320"/>
            <a:ext cx="1783080" cy="1188720"/>
          </a:xfrm>
          <a:prstGeom prst="roundRect">
            <a:avLst>
              <a:gd name="adj" fmla="val 7692"/>
            </a:avLst>
          </a:prstGeom>
          <a:solidFill>
            <a:srgbClr val="13315C"/>
          </a:solidFill>
          <a:ln/>
        </p:spPr>
      </p:sp>
      <p:sp>
        <p:nvSpPr>
          <p:cNvPr id="17" name="Text 11"/>
          <p:cNvSpPr/>
          <p:nvPr/>
        </p:nvSpPr>
        <p:spPr>
          <a:xfrm>
            <a:off x="8302752" y="1417320"/>
            <a:ext cx="1636776" cy="11887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Job &amp; Internship</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Matching</a:t>
            </a:r>
            <a:endParaRPr lang="en-US" sz="1150" dirty="0"/>
          </a:p>
        </p:txBody>
      </p:sp>
      <p:pic>
        <p:nvPicPr>
          <p:cNvPr id="18" name="Image 4" descr="/home/claude/deck/img/ic_arrow_w.png"/>
          <p:cNvPicPr>
            <a:picLocks noChangeAspect="1"/>
          </p:cNvPicPr>
          <p:nvPr/>
        </p:nvPicPr>
        <p:blipFill>
          <a:blip r:embed="rId3"/>
          <a:stretch>
            <a:fillRect/>
          </a:stretch>
        </p:blipFill>
        <p:spPr>
          <a:xfrm>
            <a:off x="10017252" y="1901952"/>
            <a:ext cx="219456" cy="219456"/>
          </a:xfrm>
          <a:prstGeom prst="rect">
            <a:avLst/>
          </a:prstGeom>
        </p:spPr>
      </p:pic>
      <p:sp>
        <p:nvSpPr>
          <p:cNvPr id="19" name="Shape 12"/>
          <p:cNvSpPr/>
          <p:nvPr/>
        </p:nvSpPr>
        <p:spPr>
          <a:xfrm>
            <a:off x="10149840" y="1417320"/>
            <a:ext cx="1783080" cy="1188720"/>
          </a:xfrm>
          <a:prstGeom prst="roundRect">
            <a:avLst>
              <a:gd name="adj" fmla="val 7692"/>
            </a:avLst>
          </a:prstGeom>
          <a:solidFill>
            <a:srgbClr val="13315C"/>
          </a:solidFill>
          <a:ln/>
        </p:spPr>
      </p:sp>
      <p:sp>
        <p:nvSpPr>
          <p:cNvPr id="20" name="Text 13"/>
          <p:cNvSpPr/>
          <p:nvPr/>
        </p:nvSpPr>
        <p:spPr>
          <a:xfrm>
            <a:off x="10222992" y="1417320"/>
            <a:ext cx="1636776" cy="11887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Progress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Tracking</a:t>
            </a:r>
            <a:endParaRPr lang="en-US" sz="1150" dirty="0"/>
          </a:p>
        </p:txBody>
      </p:sp>
      <p:sp>
        <p:nvSpPr>
          <p:cNvPr id="21" name="Shape 14"/>
          <p:cNvSpPr/>
          <p:nvPr/>
        </p:nvSpPr>
        <p:spPr>
          <a:xfrm>
            <a:off x="1371600" y="3063240"/>
            <a:ext cx="9418320" cy="0"/>
          </a:xfrm>
          <a:prstGeom prst="line">
            <a:avLst/>
          </a:prstGeom>
          <a:noFill/>
          <a:ln w="12700">
            <a:solidFill>
              <a:srgbClr val="13315C"/>
            </a:solidFill>
            <a:prstDash val="solid"/>
          </a:ln>
        </p:spPr>
      </p:sp>
      <p:sp>
        <p:nvSpPr>
          <p:cNvPr id="22" name="Text 15"/>
          <p:cNvSpPr/>
          <p:nvPr/>
        </p:nvSpPr>
        <p:spPr>
          <a:xfrm>
            <a:off x="1097280" y="3383280"/>
            <a:ext cx="9966960" cy="1280160"/>
          </a:xfrm>
          <a:prstGeom prst="rect">
            <a:avLst/>
          </a:prstGeom>
          <a:noFill/>
          <a:ln/>
        </p:spPr>
        <p:txBody>
          <a:bodyPr wrap="square" rtlCol="0" anchor="ctr"/>
          <a:lstStyle/>
          <a:p>
            <a:pPr marL="0" indent="0" algn="ctr">
              <a:buNone/>
            </a:pPr>
            <a:r>
              <a:rPr lang="en-US" sz="2400" b="1" i="1" dirty="0">
                <a:solidFill>
                  <a:srgbClr val="FFFFFF"/>
                </a:solidFill>
                <a:latin typeface="Cambria" pitchFamily="34" charset="0"/>
                <a:ea typeface="Cambria" pitchFamily="34" charset="-122"/>
                <a:cs typeface="Cambria" pitchFamily="34" charset="-120"/>
              </a:rPr>
              <a:t>“Don’t just tell students which career to choose.</a:t>
            </a:r>
            <a:endParaRPr lang="en-US" sz="2400" dirty="0"/>
          </a:p>
          <a:p>
            <a:pPr marL="0" indent="0" algn="ctr">
              <a:buNone/>
            </a:pPr>
            <a:r>
              <a:rPr lang="en-US" sz="2400" b="1" i="1" dirty="0">
                <a:solidFill>
                  <a:srgbClr val="FFFFFF"/>
                </a:solidFill>
                <a:latin typeface="Cambria" pitchFamily="34" charset="0"/>
                <a:ea typeface="Cambria" pitchFamily="34" charset="-122"/>
                <a:cs typeface="Cambria" pitchFamily="34" charset="-120"/>
              </a:rPr>
              <a:t>Show them what they need to do to reach it.”</a:t>
            </a:r>
            <a:endParaRPr lang="en-US" sz="2400" dirty="0"/>
          </a:p>
        </p:txBody>
      </p:sp>
      <p:sp>
        <p:nvSpPr>
          <p:cNvPr id="23" name="Text 16"/>
          <p:cNvSpPr/>
          <p:nvPr/>
        </p:nvSpPr>
        <p:spPr>
          <a:xfrm>
            <a:off x="548640" y="5029200"/>
            <a:ext cx="11064240" cy="822960"/>
          </a:xfrm>
          <a:prstGeom prst="rect">
            <a:avLst/>
          </a:prstGeom>
          <a:noFill/>
          <a:ln/>
        </p:spPr>
        <p:txBody>
          <a:bodyPr wrap="square" rtlCol="0" anchor="ctr"/>
          <a:lstStyle/>
          <a:p>
            <a:pPr marL="0" indent="0" algn="ctr">
              <a:buNone/>
            </a:pPr>
            <a:r>
              <a:rPr lang="en-US" sz="4000" b="1" dirty="0">
                <a:solidFill>
                  <a:srgbClr val="19A7CE"/>
                </a:solidFill>
                <a:latin typeface="Cambria" pitchFamily="34" charset="0"/>
                <a:ea typeface="Cambria" pitchFamily="34" charset="-122"/>
                <a:cs typeface="Cambria" pitchFamily="34" charset="-120"/>
              </a:rPr>
              <a:t>Thank You</a:t>
            </a:r>
            <a:endParaRPr lang="en-US" sz="4000" dirty="0"/>
          </a:p>
        </p:txBody>
      </p:sp>
      <p:sp>
        <p:nvSpPr>
          <p:cNvPr id="24" name="Text 17"/>
          <p:cNvSpPr/>
          <p:nvPr/>
        </p:nvSpPr>
        <p:spPr>
          <a:xfrm>
            <a:off x="548640" y="5897880"/>
            <a:ext cx="11064240" cy="457200"/>
          </a:xfrm>
          <a:prstGeom prst="rect">
            <a:avLst/>
          </a:prstGeom>
          <a:noFill/>
          <a:ln/>
        </p:spPr>
        <p:txBody>
          <a:bodyPr wrap="square" rtlCol="0" anchor="ctr"/>
          <a:lstStyle/>
          <a:p>
            <a:pPr marL="0" indent="0" algn="ctr">
              <a:buNone/>
            </a:pPr>
            <a:r>
              <a:rPr lang="en-US" sz="1500" dirty="0">
                <a:solidFill>
                  <a:srgbClr val="E8F1F5"/>
                </a:solidFill>
                <a:latin typeface="Calibri" pitchFamily="34" charset="0"/>
                <a:ea typeface="Calibri" pitchFamily="34" charset="-122"/>
                <a:cs typeface="Calibri" pitchFamily="34" charset="-120"/>
              </a:rPr>
              <a:t>Hizb Ullah   |   Syed Abdullah Shah   |   Fareed Ullah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1213</Words>
  <Application>Microsoft Office PowerPoint</Application>
  <PresentationFormat>Widescreen</PresentationFormat>
  <Paragraphs>143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HIZB ULLAH</cp:lastModifiedBy>
  <cp:revision>3</cp:revision>
  <dcterms:created xsi:type="dcterms:W3CDTF">2026-08-18T09:20:29Z</dcterms:created>
  <dcterms:modified xsi:type="dcterms:W3CDTF">2026-08-21T09:50:50Z</dcterms:modified>
</cp:coreProperties>
</file>